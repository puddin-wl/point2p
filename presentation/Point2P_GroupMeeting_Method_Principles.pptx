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4" d="100"/>
          <a:sy n="104" d="100"/>
        </p:scale>
        <p:origin x="18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789C999-88EE-424D-A348-7F674548EB50}"/>
              </a:ext>
            </a:extLst>
          </p:cNvPr>
          <p:cNvSpPr>
            <a:spLocks noGrp="1"/>
          </p:cNvSpPr>
          <p:nvPr/>
        </p:nvSpPr>
        <p:spPr>
          <a:xfrm>
            <a:off x="1143000" y="2667000"/>
            <a:ext cx="6858000" cy="514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矩形平顶 DOE 光束整形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E1A997C-BDC9-4091-97A6-FC9F6F1828EB}"/>
              </a:ext>
            </a:extLst>
          </p:cNvPr>
          <p:cNvSpPr>
            <a:spLocks noGrp="1"/>
          </p:cNvSpPr>
          <p:nvPr/>
        </p:nvSpPr>
        <p:spPr>
          <a:xfrm>
            <a:off x="1428750" y="3314700"/>
            <a:ext cx="62865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从解析初始相位到迭代优化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64313B-D808-4DB8-880D-47C4FA1E358F}"/>
              </a:ext>
            </a:extLst>
          </p:cNvPr>
          <p:cNvSpPr>
            <a:spLocks noGrp="1"/>
          </p:cNvSpPr>
          <p:nvPr/>
        </p:nvSpPr>
        <p:spPr>
          <a:xfrm>
            <a:off x="1428750" y="4000500"/>
            <a:ext cx="62865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组会汇报 · Point2P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08A0D40-AD1F-4761-B96D-7B3F7C9A189E}"/>
              </a:ext>
            </a:extLst>
          </p:cNvPr>
          <p:cNvSpPr>
            <a:spLocks noGrp="1"/>
          </p:cNvSpPr>
          <p:nvPr/>
        </p:nvSpPr>
        <p:spPr>
          <a:xfrm>
            <a:off x="1428750" y="4333875"/>
            <a:ext cx="6286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2026 年 6 月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1686907-231D-49D8-9055-78BF7D9EFB09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1300948-3FBA-45AB-AD4A-712D0928464F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9930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BA5701B-9689-4BB8-BD45-978B7E0F41CB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2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项目目标</a:t>
            </a:r>
            <a:endParaRPr sz="22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8B49D5-0A91-4059-863D-B8D39B178991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把输入高斯光束整形成焦平面上的矩形平顶光斑。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59BA3A-F05D-45F6-94EC-7418300AFFD1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0ABF9C0-C1C2-4F26-808E-5D09411C7E17}"/>
              </a:ext>
            </a:extLst>
          </p:cNvPr>
          <p:cNvSpPr>
            <a:spLocks noGrp="1"/>
          </p:cNvSpPr>
          <p:nvPr/>
        </p:nvSpPr>
        <p:spPr>
          <a:xfrm>
            <a:off x="666750" y="2352675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D5A5573-9894-4384-A8DE-6C2CA49FD97C}"/>
              </a:ext>
            </a:extLst>
          </p:cNvPr>
          <p:cNvSpPr>
            <a:spLocks noGrp="1"/>
          </p:cNvSpPr>
          <p:nvPr/>
        </p:nvSpPr>
        <p:spPr>
          <a:xfrm>
            <a:off x="838200" y="2266950"/>
            <a:ext cx="4591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输入：532 nm 高斯激光，经 SLM / DOE 调制后进入傅里叶透镜。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4E34BC2-9166-49D7-A333-77FC1B3AFA18}"/>
              </a:ext>
            </a:extLst>
          </p:cNvPr>
          <p:cNvSpPr>
            <a:spLocks noGrp="1"/>
          </p:cNvSpPr>
          <p:nvPr/>
        </p:nvSpPr>
        <p:spPr>
          <a:xfrm>
            <a:off x="666750" y="2895600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DB2031-D0AD-4486-83DA-1EF056C6C6CF}"/>
              </a:ext>
            </a:extLst>
          </p:cNvPr>
          <p:cNvSpPr>
            <a:spLocks noGrp="1"/>
          </p:cNvSpPr>
          <p:nvPr/>
        </p:nvSpPr>
        <p:spPr>
          <a:xfrm>
            <a:off x="838200" y="2809875"/>
            <a:ext cx="45910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目标：焦平面 50% 全宽约 330 × 120 μm 的矩形平顶。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8BFA82D-58FC-45D7-979D-9C6298B29CE4}"/>
              </a:ext>
            </a:extLst>
          </p:cNvPr>
          <p:cNvSpPr>
            <a:spLocks noGrp="1"/>
          </p:cNvSpPr>
          <p:nvPr/>
        </p:nvSpPr>
        <p:spPr>
          <a:xfrm>
            <a:off x="666750" y="3438525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EB0DEDA-9B49-44EF-9598-5E15B1472AB7}"/>
              </a:ext>
            </a:extLst>
          </p:cNvPr>
          <p:cNvSpPr>
            <a:spLocks noGrp="1"/>
          </p:cNvSpPr>
          <p:nvPr/>
        </p:nvSpPr>
        <p:spPr>
          <a:xfrm>
            <a:off x="838200" y="3352800"/>
            <a:ext cx="506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正式管线采用 6 mm 入射光斑、15 mm 通光孔径、2048 × 2048 计算网格。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0BDAEEA-1FAB-43EF-9D8B-653B30D73E29}"/>
              </a:ext>
            </a:extLst>
          </p:cNvPr>
          <p:cNvSpPr>
            <a:spLocks noGrp="1"/>
          </p:cNvSpPr>
          <p:nvPr/>
        </p:nvSpPr>
        <p:spPr>
          <a:xfrm>
            <a:off x="6096000" y="2266950"/>
            <a:ext cx="1952625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9E35AC4-4710-4780-9A40-9072F93775EC}"/>
              </a:ext>
            </a:extLst>
          </p:cNvPr>
          <p:cNvSpPr>
            <a:spLocks noGrp="1"/>
          </p:cNvSpPr>
          <p:nvPr/>
        </p:nvSpPr>
        <p:spPr>
          <a:xfrm>
            <a:off x="6210300" y="2343150"/>
            <a:ext cx="17240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330 × 120 μm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F4E9AB4-5E6D-4AC5-A6F9-19B0087AABFE}"/>
              </a:ext>
            </a:extLst>
          </p:cNvPr>
          <p:cNvSpPr>
            <a:spLocks noGrp="1"/>
          </p:cNvSpPr>
          <p:nvPr/>
        </p:nvSpPr>
        <p:spPr>
          <a:xfrm>
            <a:off x="6210300" y="2600325"/>
            <a:ext cx="17240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目标尺寸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C87F93C-71E0-4236-B24C-0BE79AA039E8}"/>
              </a:ext>
            </a:extLst>
          </p:cNvPr>
          <p:cNvSpPr>
            <a:spLocks noGrp="1"/>
          </p:cNvSpPr>
          <p:nvPr/>
        </p:nvSpPr>
        <p:spPr>
          <a:xfrm>
            <a:off x="6210300" y="2762250"/>
            <a:ext cx="17240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50% full width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F91EF4B-27A6-416E-BE73-B4634201547A}"/>
              </a:ext>
            </a:extLst>
          </p:cNvPr>
          <p:cNvSpPr>
            <a:spLocks noGrp="1"/>
          </p:cNvSpPr>
          <p:nvPr/>
        </p:nvSpPr>
        <p:spPr>
          <a:xfrm>
            <a:off x="6096000" y="3190875"/>
            <a:ext cx="1952625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B6CB0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B3B7D4B-8EDE-4F78-99C7-EF53D8D9CCA6}"/>
              </a:ext>
            </a:extLst>
          </p:cNvPr>
          <p:cNvSpPr>
            <a:spLocks noGrp="1"/>
          </p:cNvSpPr>
          <p:nvPr/>
        </p:nvSpPr>
        <p:spPr>
          <a:xfrm>
            <a:off x="6210300" y="3267075"/>
            <a:ext cx="17240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f = 429 mm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46C5E73-6537-4BE1-A3FF-94B9D831DA7B}"/>
              </a:ext>
            </a:extLst>
          </p:cNvPr>
          <p:cNvSpPr>
            <a:spLocks noGrp="1"/>
          </p:cNvSpPr>
          <p:nvPr/>
        </p:nvSpPr>
        <p:spPr>
          <a:xfrm>
            <a:off x="6210300" y="3524250"/>
            <a:ext cx="17240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傅里叶透镜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98A38B4-0BDE-4BDF-8F28-17E31A656D7D}"/>
              </a:ext>
            </a:extLst>
          </p:cNvPr>
          <p:cNvSpPr>
            <a:spLocks noGrp="1"/>
          </p:cNvSpPr>
          <p:nvPr/>
        </p:nvSpPr>
        <p:spPr>
          <a:xfrm>
            <a:off x="6210300" y="3686175"/>
            <a:ext cx="17240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正式光路参数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06C199D-1404-49B5-A1C2-4D64B784876D}"/>
              </a:ext>
            </a:extLst>
          </p:cNvPr>
          <p:cNvSpPr>
            <a:spLocks noGrp="1"/>
          </p:cNvSpPr>
          <p:nvPr/>
        </p:nvSpPr>
        <p:spPr>
          <a:xfrm>
            <a:off x="6096000" y="4114800"/>
            <a:ext cx="1952625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55A"/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EB040C1-4D1B-4446-8879-0C593D60A49B}"/>
              </a:ext>
            </a:extLst>
          </p:cNvPr>
          <p:cNvSpPr>
            <a:spLocks noGrp="1"/>
          </p:cNvSpPr>
          <p:nvPr/>
        </p:nvSpPr>
        <p:spPr>
          <a:xfrm>
            <a:off x="6210300" y="4191000"/>
            <a:ext cx="172402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6 mm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6C973E62-057F-4C5C-A59F-2F3B8A4EB80D}"/>
              </a:ext>
            </a:extLst>
          </p:cNvPr>
          <p:cNvSpPr>
            <a:spLocks noGrp="1"/>
          </p:cNvSpPr>
          <p:nvPr/>
        </p:nvSpPr>
        <p:spPr>
          <a:xfrm>
            <a:off x="6210300" y="4448175"/>
            <a:ext cx="1724025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入射光斑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A4818FF-1BAA-47A4-851F-7670CEC59679}"/>
              </a:ext>
            </a:extLst>
          </p:cNvPr>
          <p:cNvSpPr>
            <a:spLocks noGrp="1"/>
          </p:cNvSpPr>
          <p:nvPr/>
        </p:nvSpPr>
        <p:spPr>
          <a:xfrm>
            <a:off x="6210300" y="4610100"/>
            <a:ext cx="1724025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1/e² 直径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B6F43E1-D2B4-4DF3-86B3-4F986D9DACC1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357A5C1A-D736-47F9-A778-39503643DE58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528781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图片 2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B5D8F9FE-78C4-4799-B5C5-449AC5AD1538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为什么需要相位设计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44B254A-E5F7-40CD-8FB8-161A4B2046F1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DOE 只改变相位，但焦平面强度由传播后的复振幅决定。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05A637F-957F-45DF-8C16-F2F06949C999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4550EF1-024A-43D1-84EA-C245AA7DE144}"/>
              </a:ext>
            </a:extLst>
          </p:cNvPr>
          <p:cNvSpPr>
            <a:spLocks noGrp="1"/>
          </p:cNvSpPr>
          <p:nvPr/>
        </p:nvSpPr>
        <p:spPr>
          <a:xfrm>
            <a:off x="694875" y="2866987"/>
            <a:ext cx="1429200" cy="781200"/>
          </a:xfrm>
          <a:prstGeom prst="rect">
            <a:avLst/>
          </a:prstGeom>
          <a:solidFill>
            <a:srgbClr val="FFFFFF"/>
          </a:solidFill>
          <a:ln w="14288">
            <a:solidFill>
              <a:srgbClr val="2B6CB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C1A334C-9450-47C2-A63A-595DDACB2225}"/>
              </a:ext>
            </a:extLst>
          </p:cNvPr>
          <p:cNvSpPr>
            <a:spLocks noGrp="1"/>
          </p:cNvSpPr>
          <p:nvPr/>
        </p:nvSpPr>
        <p:spPr>
          <a:xfrm>
            <a:off x="885600" y="3057562"/>
            <a:ext cx="10477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输入高斯光束</a:t>
            </a:r>
            <a:endParaRPr sz="10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45386BD-BB3C-4427-B36E-67AF4421B473}"/>
              </a:ext>
            </a:extLst>
          </p:cNvPr>
          <p:cNvSpPr>
            <a:spLocks noGrp="1"/>
          </p:cNvSpPr>
          <p:nvPr/>
        </p:nvSpPr>
        <p:spPr>
          <a:xfrm>
            <a:off x="2190750" y="3248062"/>
            <a:ext cx="619125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E0F93AE-9E1C-4F8C-BF92-0F6A2127CBC3}"/>
              </a:ext>
            </a:extLst>
          </p:cNvPr>
          <p:cNvSpPr>
            <a:spLocks noGrp="1"/>
          </p:cNvSpPr>
          <p:nvPr/>
        </p:nvSpPr>
        <p:spPr>
          <a:xfrm>
            <a:off x="2705100" y="3162337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556BC22-BA67-4B80-84E8-F6953927BCEB}"/>
              </a:ext>
            </a:extLst>
          </p:cNvPr>
          <p:cNvSpPr>
            <a:spLocks noGrp="1"/>
          </p:cNvSpPr>
          <p:nvPr/>
        </p:nvSpPr>
        <p:spPr>
          <a:xfrm>
            <a:off x="2857500" y="2867062"/>
            <a:ext cx="142875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D955C75-0544-454F-A81B-D6688C3AD4B3}"/>
              </a:ext>
            </a:extLst>
          </p:cNvPr>
          <p:cNvSpPr>
            <a:spLocks noGrp="1"/>
          </p:cNvSpPr>
          <p:nvPr/>
        </p:nvSpPr>
        <p:spPr>
          <a:xfrm>
            <a:off x="2952750" y="2962312"/>
            <a:ext cx="123825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SLM / DOE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加载相位 φ(x,y)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49792FE-F6CB-457E-B41B-CFCA81354DA7}"/>
              </a:ext>
            </a:extLst>
          </p:cNvPr>
          <p:cNvSpPr>
            <a:spLocks noGrp="1"/>
          </p:cNvSpPr>
          <p:nvPr/>
        </p:nvSpPr>
        <p:spPr>
          <a:xfrm>
            <a:off x="4400550" y="3248062"/>
            <a:ext cx="619125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BC063F4-5859-4742-87A6-BDE5AA83A812}"/>
              </a:ext>
            </a:extLst>
          </p:cNvPr>
          <p:cNvSpPr>
            <a:spLocks noGrp="1"/>
          </p:cNvSpPr>
          <p:nvPr/>
        </p:nvSpPr>
        <p:spPr>
          <a:xfrm>
            <a:off x="4914900" y="3162337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EFAE692-1E18-4D86-84A7-5197CAD80994}"/>
              </a:ext>
            </a:extLst>
          </p:cNvPr>
          <p:cNvSpPr>
            <a:spLocks noGrp="1"/>
          </p:cNvSpPr>
          <p:nvPr/>
        </p:nvSpPr>
        <p:spPr>
          <a:xfrm>
            <a:off x="5095875" y="2867062"/>
            <a:ext cx="1381125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55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096754E-2F2F-44CB-9910-78421E599781}"/>
              </a:ext>
            </a:extLst>
          </p:cNvPr>
          <p:cNvSpPr>
            <a:spLocks noGrp="1"/>
          </p:cNvSpPr>
          <p:nvPr/>
        </p:nvSpPr>
        <p:spPr>
          <a:xfrm>
            <a:off x="5191125" y="2962312"/>
            <a:ext cx="1190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傅里叶透镜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f = 429 mm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F0DC94B-D815-429B-BF2F-9B25A3C549F7}"/>
              </a:ext>
            </a:extLst>
          </p:cNvPr>
          <p:cNvSpPr>
            <a:spLocks noGrp="1"/>
          </p:cNvSpPr>
          <p:nvPr/>
        </p:nvSpPr>
        <p:spPr>
          <a:xfrm>
            <a:off x="6572250" y="3248062"/>
            <a:ext cx="619125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C21AB43-C89D-4DFD-957D-E6739573A5A7}"/>
              </a:ext>
            </a:extLst>
          </p:cNvPr>
          <p:cNvSpPr>
            <a:spLocks noGrp="1"/>
          </p:cNvSpPr>
          <p:nvPr/>
        </p:nvSpPr>
        <p:spPr>
          <a:xfrm>
            <a:off x="7086600" y="3162337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9DDC352-B34E-4DBD-9BD1-04F062ADE49A}"/>
              </a:ext>
            </a:extLst>
          </p:cNvPr>
          <p:cNvSpPr>
            <a:spLocks noGrp="1"/>
          </p:cNvSpPr>
          <p:nvPr/>
        </p:nvSpPr>
        <p:spPr>
          <a:xfrm>
            <a:off x="7239000" y="2867062"/>
            <a:ext cx="1381125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B7791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A16B93BD-F66F-4DF3-8743-78EADB747B4E}"/>
              </a:ext>
            </a:extLst>
          </p:cNvPr>
          <p:cNvSpPr>
            <a:spLocks noGrp="1"/>
          </p:cNvSpPr>
          <p:nvPr/>
        </p:nvSpPr>
        <p:spPr>
          <a:xfrm>
            <a:off x="7334250" y="2962312"/>
            <a:ext cx="1190625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焦平面强度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I = |FFT(E)|²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5ECABE-E30F-45B9-89CA-43F220AF89A4}"/>
              </a:ext>
            </a:extLst>
          </p:cNvPr>
          <p:cNvSpPr>
            <a:spLocks noGrp="1"/>
          </p:cNvSpPr>
          <p:nvPr/>
        </p:nvSpPr>
        <p:spPr>
          <a:xfrm>
            <a:off x="1114425" y="3957637"/>
            <a:ext cx="6572250" cy="1276350"/>
          </a:xfrm>
          <a:prstGeom prst="rect">
            <a:avLst/>
          </a:prstGeom>
          <a:solidFill>
            <a:srgbClr val="FAFAFA"/>
          </a:solidFill>
          <a:ln w="9525">
            <a:solidFill>
              <a:srgbClr val="CFCFCF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0ADEFC1-F19F-4921-8546-181BFAE1C376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2640222-F6D5-4817-A66A-C0DF4B94711C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0E1A5FF-8AFD-E238-BDC7-372DC59C7BA0}"/>
              </a:ext>
            </a:extLst>
          </p:cNvPr>
          <p:cNvGrpSpPr/>
          <p:nvPr/>
        </p:nvGrpSpPr>
        <p:grpSpPr>
          <a:xfrm>
            <a:off x="2824991" y="4047267"/>
            <a:ext cx="3151119" cy="1134505"/>
            <a:chOff x="1375494" y="4937855"/>
            <a:chExt cx="3151119" cy="1134505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113A13A-13D9-36F5-06E4-C33CF3053723}"/>
                    </a:ext>
                  </a:extLst>
                </p:cNvPr>
                <p:cNvSpPr txBox="1"/>
                <p:nvPr/>
              </p:nvSpPr>
              <p:spPr>
                <a:xfrm>
                  <a:off x="1375494" y="4937855"/>
                  <a:ext cx="3151119" cy="2884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𝑑𝑜𝑒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sSup>
                          <m:sSupPr>
                            <m:ctrlP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∙</m:t>
                            </m:r>
                            <m: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𝜙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3113A13A-13D9-36F5-06E4-C33CF30537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494" y="4937855"/>
                  <a:ext cx="3151119" cy="288477"/>
                </a:xfrm>
                <a:prstGeom prst="rect">
                  <a:avLst/>
                </a:prstGeom>
                <a:blipFill>
                  <a:blip r:embed="rId4"/>
                  <a:stretch>
                    <a:fillRect l="-1161" t="-6383" r="-774" b="-25532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0293538-A8A3-C746-3B95-120CF99E3805}"/>
                    </a:ext>
                  </a:extLst>
                </p:cNvPr>
                <p:cNvSpPr txBox="1"/>
                <p:nvPr/>
              </p:nvSpPr>
              <p:spPr>
                <a:xfrm>
                  <a:off x="1375494" y="5312875"/>
                  <a:ext cx="3117777" cy="29924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𝑓𝑜𝑐𝑎𝑙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∝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𝐹𝐹𝑇</m:t>
                        </m:r>
                        <m:d>
                          <m:dPr>
                            <m:begChr m:val="{"/>
                            <m:endChr m:val="}"/>
                            <m:ctrlPr>
                              <a:rPr lang="zh-CN" altLang="en-US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𝑑𝑜𝑒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</m:d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6" name="文本框 25">
                  <a:extLst>
                    <a:ext uri="{FF2B5EF4-FFF2-40B4-BE49-F238E27FC236}">
                      <a16:creationId xmlns:a16="http://schemas.microsoft.com/office/drawing/2014/main" id="{10293538-A8A3-C746-3B95-120CF99E380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494" y="5312875"/>
                  <a:ext cx="3117777" cy="299249"/>
                </a:xfrm>
                <a:prstGeom prst="rect">
                  <a:avLst/>
                </a:prstGeom>
                <a:blipFill>
                  <a:blip r:embed="rId5"/>
                  <a:stretch>
                    <a:fillRect l="-1172" b="-2600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2253042-E805-1950-7592-EDF443AF0DFE}"/>
                    </a:ext>
                  </a:extLst>
                </p:cNvPr>
                <p:cNvSpPr txBox="1"/>
                <p:nvPr/>
              </p:nvSpPr>
              <p:spPr>
                <a:xfrm>
                  <a:off x="1375494" y="5698668"/>
                  <a:ext cx="2866810" cy="37369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𝑓𝑜𝑐𝑎𝑙</m:t>
                            </m:r>
                          </m:sub>
                        </m:sSub>
                        <m:d>
                          <m: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sSup>
                          <m:sSupPr>
                            <m:ctrlPr>
                              <a:rPr lang="zh-CN" alt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|"/>
                                <m:endChr m:val="|"/>
                                <m:ctrlPr>
                                  <a:rPr lang="zh-CN" alt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𝑓𝑜𝑐𝑎𝑙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r>
                                      <a:rPr lang="en-US" altLang="zh-CN" i="1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>
            <p:sp>
              <p:nvSpPr>
                <p:cNvPr id="27" name="文本框 26">
                  <a:extLst>
                    <a:ext uri="{FF2B5EF4-FFF2-40B4-BE49-F238E27FC236}">
                      <a16:creationId xmlns:a16="http://schemas.microsoft.com/office/drawing/2014/main" id="{92253042-E805-1950-7592-EDF443AF0D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75494" y="5698668"/>
                  <a:ext cx="2866810" cy="373692"/>
                </a:xfrm>
                <a:prstGeom prst="rect">
                  <a:avLst/>
                </a:prstGeom>
                <a:blipFill>
                  <a:blip r:embed="rId6"/>
                  <a:stretch>
                    <a:fillRect l="-1486" r="-212" b="-21311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382682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45E4C9C8-B178-4B51-963B-12815E2E4FF6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Romero-Dickey </a:t>
            </a:r>
            <a:r>
              <a:rPr sz="22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的基本思想</a:t>
            </a:r>
            <a:endParaRPr sz="22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4E08A9-B564-4DA5-BDDB-08D6BCE738CB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先用解析方法给出接近目标的初始相位。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BEA5165-1597-4DD7-B9D3-DE73BB353D2B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015F16D-596D-44EB-8BA4-8389409C6393}"/>
              </a:ext>
            </a:extLst>
          </p:cNvPr>
          <p:cNvSpPr>
            <a:spLocks noGrp="1"/>
          </p:cNvSpPr>
          <p:nvPr/>
        </p:nvSpPr>
        <p:spPr>
          <a:xfrm>
            <a:off x="666750" y="2228850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4C982E3-EE46-4D14-A4BC-4FCDECFA60A1}"/>
              </a:ext>
            </a:extLst>
          </p:cNvPr>
          <p:cNvSpPr>
            <a:spLocks noGrp="1"/>
          </p:cNvSpPr>
          <p:nvPr/>
        </p:nvSpPr>
        <p:spPr>
          <a:xfrm>
            <a:off x="838200" y="2143125"/>
            <a:ext cx="4781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在菲涅尔近似下，用能量守恒建立输入高斯与输出平顶之间的映射。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61F8C6-FF6E-49A5-B7AA-D6EA63078276}"/>
              </a:ext>
            </a:extLst>
          </p:cNvPr>
          <p:cNvSpPr>
            <a:spLocks noGrp="1"/>
          </p:cNvSpPr>
          <p:nvPr/>
        </p:nvSpPr>
        <p:spPr>
          <a:xfrm>
            <a:off x="666750" y="2771775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A6FAE8-A3BC-4A81-81A7-7E0315CDA794}"/>
              </a:ext>
            </a:extLst>
          </p:cNvPr>
          <p:cNvSpPr>
            <a:spLocks noGrp="1"/>
          </p:cNvSpPr>
          <p:nvPr/>
        </p:nvSpPr>
        <p:spPr>
          <a:xfrm>
            <a:off x="838200" y="2686050"/>
            <a:ext cx="5067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稳相法给出一维相位；二维矩形目标可以写成 x、y 两个方向的可分离相位。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70CE0B-89B2-4D54-B319-B56B78EED7FC}"/>
              </a:ext>
            </a:extLst>
          </p:cNvPr>
          <p:cNvSpPr>
            <a:spLocks noGrp="1"/>
          </p:cNvSpPr>
          <p:nvPr/>
        </p:nvSpPr>
        <p:spPr>
          <a:xfrm>
            <a:off x="6191250" y="2190750"/>
            <a:ext cx="2190750" cy="2333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257925" y="2424113"/>
            <a:ext cx="2057400" cy="17145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DA7768C1-0452-4B7F-95B4-C2D7A5D124DF}"/>
              </a:ext>
            </a:extLst>
          </p:cNvPr>
          <p:cNvSpPr>
            <a:spLocks noGrp="1"/>
          </p:cNvSpPr>
          <p:nvPr/>
        </p:nvSpPr>
        <p:spPr>
          <a:xfrm>
            <a:off x="6286500" y="4333875"/>
            <a:ext cx="2000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Romero-Dickey 初始相位 phase0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C4E7D84-D3AC-4FB3-8F27-F62B63DBA958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BEBA0F-9EB9-4A3D-8409-620D9B1099E9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668B91A-2173-8FF9-13B0-2694B398FD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381425"/>
            <a:ext cx="4952381" cy="780952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5F7AF6B-8F63-7D30-DF0C-EA1968D42AE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4205369"/>
            <a:ext cx="3933333" cy="5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0068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3D005633-D5D1-4CA8-986E-AD5FE84F3F6D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β 参数的作用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7EE3CCD-00BD-43DB-AF29-EB9C3E3AC00D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β 用来判断解析相位近似是否足够。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C896385-BAD2-4F95-BDAA-4AB501F8A0AA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BACA3B1-2933-45F1-BDA4-BBDCF1F6891E}"/>
              </a:ext>
            </a:extLst>
          </p:cNvPr>
          <p:cNvSpPr>
            <a:spLocks noGrp="1"/>
          </p:cNvSpPr>
          <p:nvPr/>
        </p:nvSpPr>
        <p:spPr>
          <a:xfrm>
            <a:off x="762000" y="3248025"/>
            <a:ext cx="66675" cy="66675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3A5A8B8-9053-4CC6-847C-15E3E160D5FE}"/>
              </a:ext>
            </a:extLst>
          </p:cNvPr>
          <p:cNvSpPr>
            <a:spLocks noGrp="1"/>
          </p:cNvSpPr>
          <p:nvPr/>
        </p:nvSpPr>
        <p:spPr>
          <a:xfrm>
            <a:off x="933450" y="3162300"/>
            <a:ext cx="4781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β 越大，解析近似通常越接近几何光学结果。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F82D3B5-84F3-412E-AA25-01B8BF74DA84}"/>
              </a:ext>
            </a:extLst>
          </p:cNvPr>
          <p:cNvSpPr>
            <a:spLocks noGrp="1"/>
          </p:cNvSpPr>
          <p:nvPr/>
        </p:nvSpPr>
        <p:spPr>
          <a:xfrm>
            <a:off x="762000" y="3781425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E455E381-960A-47DC-9443-E9AAAA45E71F}"/>
              </a:ext>
            </a:extLst>
          </p:cNvPr>
          <p:cNvSpPr>
            <a:spLocks noGrp="1"/>
          </p:cNvSpPr>
          <p:nvPr/>
        </p:nvSpPr>
        <p:spPr>
          <a:xfrm>
            <a:off x="933450" y="3695700"/>
            <a:ext cx="478155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本项目</a:t>
            </a:r>
            <a:r>
              <a:rPr lang="zh-CN" altLang="en-US"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lang="el-GR"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β_</a:t>
            </a:r>
            <a:r>
              <a:rPr lang="en-US"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y = 3.30，</a:t>
            </a:r>
            <a:r>
              <a:rPr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短轴方向仍需要</a:t>
            </a:r>
            <a:r>
              <a:rPr lang="zh-CN" altLang="en-US"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迭</a:t>
            </a:r>
            <a:r>
              <a:rPr sz="1350" b="0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代修正</a:t>
            </a:r>
            <a:r>
              <a:rPr sz="1350" b="0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F313608-F04E-4002-8D6D-583F15237BDF}"/>
              </a:ext>
            </a:extLst>
          </p:cNvPr>
          <p:cNvSpPr>
            <a:spLocks noGrp="1"/>
          </p:cNvSpPr>
          <p:nvPr/>
        </p:nvSpPr>
        <p:spPr>
          <a:xfrm>
            <a:off x="5953125" y="2286000"/>
            <a:ext cx="18097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B6CB0"/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9FB0243-7FB2-441E-9539-B504B1C67CED}"/>
              </a:ext>
            </a:extLst>
          </p:cNvPr>
          <p:cNvSpPr>
            <a:spLocks noGrp="1"/>
          </p:cNvSpPr>
          <p:nvPr/>
        </p:nvSpPr>
        <p:spPr>
          <a:xfrm>
            <a:off x="6067425" y="2362200"/>
            <a:ext cx="1581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β_x = 9.06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747C4EF-8EB5-4A2B-BA06-96A70EB16757}"/>
              </a:ext>
            </a:extLst>
          </p:cNvPr>
          <p:cNvSpPr>
            <a:spLocks noGrp="1"/>
          </p:cNvSpPr>
          <p:nvPr/>
        </p:nvSpPr>
        <p:spPr>
          <a:xfrm>
            <a:off x="6067425" y="2619375"/>
            <a:ext cx="1581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 方向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8923F3B-06D1-44C6-94BC-FF526E5BDDA3}"/>
              </a:ext>
            </a:extLst>
          </p:cNvPr>
          <p:cNvSpPr>
            <a:spLocks noGrp="1"/>
          </p:cNvSpPr>
          <p:nvPr/>
        </p:nvSpPr>
        <p:spPr>
          <a:xfrm>
            <a:off x="6067425" y="2781300"/>
            <a:ext cx="15811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长轴方向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CCF396F-AF2B-4EA8-AE5B-09A94BB5DB48}"/>
              </a:ext>
            </a:extLst>
          </p:cNvPr>
          <p:cNvSpPr>
            <a:spLocks noGrp="1"/>
          </p:cNvSpPr>
          <p:nvPr/>
        </p:nvSpPr>
        <p:spPr>
          <a:xfrm>
            <a:off x="5953125" y="3219450"/>
            <a:ext cx="18097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5BF9738-9CD7-4AF2-9DB8-77C3E95A8655}"/>
              </a:ext>
            </a:extLst>
          </p:cNvPr>
          <p:cNvSpPr>
            <a:spLocks noGrp="1"/>
          </p:cNvSpPr>
          <p:nvPr/>
        </p:nvSpPr>
        <p:spPr>
          <a:xfrm>
            <a:off x="6067425" y="3295650"/>
            <a:ext cx="15811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l-GR" sz="1650" b="1" dirty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β_</a:t>
            </a:r>
            <a:r>
              <a:rPr lang="en-US" sz="1650" b="1" dirty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y = 3.30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5E9350B-F89F-47FB-9B45-C9F77F46BDE8}"/>
              </a:ext>
            </a:extLst>
          </p:cNvPr>
          <p:cNvSpPr>
            <a:spLocks noGrp="1"/>
          </p:cNvSpPr>
          <p:nvPr/>
        </p:nvSpPr>
        <p:spPr>
          <a:xfrm>
            <a:off x="6067425" y="3552825"/>
            <a:ext cx="15811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y 方向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6EF51E5F-6A02-470C-8C75-08F8F5A2AABE}"/>
              </a:ext>
            </a:extLst>
          </p:cNvPr>
          <p:cNvSpPr>
            <a:spLocks noGrp="1"/>
          </p:cNvSpPr>
          <p:nvPr/>
        </p:nvSpPr>
        <p:spPr>
          <a:xfrm>
            <a:off x="6067425" y="3714750"/>
            <a:ext cx="15811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限制方向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B23333A8-A59B-456C-BB0B-BFA7049A4922}"/>
              </a:ext>
            </a:extLst>
          </p:cNvPr>
          <p:cNvSpPr>
            <a:spLocks noGrp="1"/>
          </p:cNvSpPr>
          <p:nvPr/>
        </p:nvSpPr>
        <p:spPr>
          <a:xfrm>
            <a:off x="1143000" y="4905375"/>
            <a:ext cx="68580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因此</a:t>
            </a:r>
            <a:r>
              <a:rPr sz="1275" b="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，β </a:t>
            </a:r>
            <a:r>
              <a:rPr sz="1275" b="0" dirty="0" err="1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用来解释解析初值之后为什么仍需优化</a:t>
            </a:r>
            <a:r>
              <a:rPr sz="1275" b="0" dirty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59C6976-F7DE-460C-A935-02DB67FCF646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8590D47-0DCA-466D-8CEE-DB61E82FF987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33C1FB4E-0AB7-F686-E8A8-A5F8FC1B75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450" y="2070776"/>
            <a:ext cx="2219048" cy="7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3501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FA95814E-42BB-4282-855E-07E336CA866B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初始相位不是最终答案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F2BB82B-826B-42AE-98C3-0CD6A5D4D9CB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解析相位提供热启动，但焦平面平台仍有非均匀性。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0C23BB5-6DFD-4991-90F1-FFE2BE512A35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BD024CA-190E-454D-A7DC-F7065D23DFE9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2333625" cy="25241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" y="2412206"/>
            <a:ext cx="2200275" cy="1833563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207F7D07-C509-44CA-9F07-1744D772FF26}"/>
              </a:ext>
            </a:extLst>
          </p:cNvPr>
          <p:cNvSpPr>
            <a:spLocks noGrp="1"/>
          </p:cNvSpPr>
          <p:nvPr/>
        </p:nvSpPr>
        <p:spPr>
          <a:xfrm>
            <a:off x="809625" y="4476750"/>
            <a:ext cx="2143125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phase0 相位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EFBE3FD-DCF1-4D57-93E3-FC7028B59179}"/>
              </a:ext>
            </a:extLst>
          </p:cNvPr>
          <p:cNvSpPr>
            <a:spLocks noGrp="1"/>
          </p:cNvSpPr>
          <p:nvPr/>
        </p:nvSpPr>
        <p:spPr>
          <a:xfrm>
            <a:off x="3524250" y="2143125"/>
            <a:ext cx="3143250" cy="25241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3590925" y="2361520"/>
            <a:ext cx="3009900" cy="1934936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0B601A61-2062-4605-B1CE-68B75C0DDD33}"/>
              </a:ext>
            </a:extLst>
          </p:cNvPr>
          <p:cNvSpPr>
            <a:spLocks noGrp="1"/>
          </p:cNvSpPr>
          <p:nvPr/>
        </p:nvSpPr>
        <p:spPr>
          <a:xfrm>
            <a:off x="3619500" y="4476750"/>
            <a:ext cx="2952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phase0 对应的初始焦斑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1230131-1A63-4EF8-8166-DC2C472E707D}"/>
              </a:ext>
            </a:extLst>
          </p:cNvPr>
          <p:cNvSpPr>
            <a:spLocks noGrp="1"/>
          </p:cNvSpPr>
          <p:nvPr/>
        </p:nvSpPr>
        <p:spPr>
          <a:xfrm>
            <a:off x="6858000" y="2419350"/>
            <a:ext cx="66675" cy="66675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E26AD4F-C31A-4AD6-844D-8029E89A439E}"/>
              </a:ext>
            </a:extLst>
          </p:cNvPr>
          <p:cNvSpPr>
            <a:spLocks noGrp="1"/>
          </p:cNvSpPr>
          <p:nvPr/>
        </p:nvSpPr>
        <p:spPr>
          <a:xfrm>
            <a:off x="7029450" y="2333625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初始相位保留明确的物理结构，适合作为迭代起点。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7850025-2C40-4150-B15C-E00967392142}"/>
              </a:ext>
            </a:extLst>
          </p:cNvPr>
          <p:cNvSpPr>
            <a:spLocks noGrp="1"/>
          </p:cNvSpPr>
          <p:nvPr/>
        </p:nvSpPr>
        <p:spPr>
          <a:xfrm>
            <a:off x="6858000" y="3276600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DFD1ACC-B625-4141-A28E-F780448E1EFD}"/>
              </a:ext>
            </a:extLst>
          </p:cNvPr>
          <p:cNvSpPr>
            <a:spLocks noGrp="1"/>
          </p:cNvSpPr>
          <p:nvPr/>
        </p:nvSpPr>
        <p:spPr>
          <a:xfrm>
            <a:off x="7029450" y="3190875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焦斑已经接近矩形，但平顶区仍有波纹和边缘误差。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3DF168-522B-404C-B674-77B2C533BC88}"/>
              </a:ext>
            </a:extLst>
          </p:cNvPr>
          <p:cNvSpPr>
            <a:spLocks noGrp="1"/>
          </p:cNvSpPr>
          <p:nvPr/>
        </p:nvSpPr>
        <p:spPr>
          <a:xfrm>
            <a:off x="6858000" y="4133850"/>
            <a:ext cx="66675" cy="66675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CE74D37-7A5A-4A2B-AF84-C874A7644017}"/>
              </a:ext>
            </a:extLst>
          </p:cNvPr>
          <p:cNvSpPr>
            <a:spLocks noGrp="1"/>
          </p:cNvSpPr>
          <p:nvPr/>
        </p:nvSpPr>
        <p:spPr>
          <a:xfrm>
            <a:off x="7029450" y="4048125"/>
            <a:ext cx="1638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后续 RTAD / MRAF / WGS 只是在这个物理起点上继续修正。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1B6185A1-820A-48C7-BCE0-D9A7B5561E66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5F2B3B1-B4A9-41D3-8EC2-7B6B2BD95BB0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7523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1606ACE-2E74-41B6-A446-77A6BA656124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RTAD 目标函数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D824A81-D5AD-4503-B232-0AE34C13F17F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用平滑边缘降低硬边目标带来的高频成分。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BB39EA3-715B-4989-B885-C6D97EE718FD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831450F-F10E-4B3E-A924-D18E9C31A96D}"/>
              </a:ext>
            </a:extLst>
          </p:cNvPr>
          <p:cNvSpPr>
            <a:spLocks noGrp="1"/>
          </p:cNvSpPr>
          <p:nvPr/>
        </p:nvSpPr>
        <p:spPr>
          <a:xfrm>
            <a:off x="666750" y="2143125"/>
            <a:ext cx="295275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3425" y="2398939"/>
            <a:ext cx="2819400" cy="181247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8D27851-1F72-4239-BBBF-2E1B56877E6D}"/>
              </a:ext>
            </a:extLst>
          </p:cNvPr>
          <p:cNvSpPr>
            <a:spLocks noGrp="1"/>
          </p:cNvSpPr>
          <p:nvPr/>
        </p:nvSpPr>
        <p:spPr>
          <a:xfrm>
            <a:off x="762000" y="4429125"/>
            <a:ext cx="27622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RTAD 目标强度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B0C9C16-2A09-47B4-8878-899414306CA6}"/>
              </a:ext>
            </a:extLst>
          </p:cNvPr>
          <p:cNvSpPr>
            <a:spLocks noGrp="1"/>
          </p:cNvSpPr>
          <p:nvPr/>
        </p:nvSpPr>
        <p:spPr>
          <a:xfrm>
            <a:off x="4000500" y="2143125"/>
            <a:ext cx="3238500" cy="24765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9" name="图片 8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4067175" y="2740602"/>
            <a:ext cx="3105150" cy="1129145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F095911-E431-4EBE-AC36-0C2E135FD0A2}"/>
              </a:ext>
            </a:extLst>
          </p:cNvPr>
          <p:cNvSpPr>
            <a:spLocks noGrp="1"/>
          </p:cNvSpPr>
          <p:nvPr/>
        </p:nvSpPr>
        <p:spPr>
          <a:xfrm>
            <a:off x="4095750" y="4429125"/>
            <a:ext cx="30480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升余弦边缘剖面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65F6D9F1-04C6-4883-8A84-28B088F14C03}"/>
              </a:ext>
            </a:extLst>
          </p:cNvPr>
          <p:cNvSpPr>
            <a:spLocks noGrp="1"/>
          </p:cNvSpPr>
          <p:nvPr/>
        </p:nvSpPr>
        <p:spPr>
          <a:xfrm>
            <a:off x="714375" y="5810250"/>
            <a:ext cx="7239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本项目采用截断 RTAD：只约束 I ≥ exp(-2) ≈ 13.5% 的信号区。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15B09D-411F-4211-80B7-F80C0ECAF37C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65A1408-EA9F-4B2C-B3DF-3CC4E0C665ED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B3C8167B-C4B3-6F41-959E-DC47DEC126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752" y="4644077"/>
            <a:ext cx="3381375" cy="1037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7934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072E84D5-22F1-4D66-909D-A37B3ABF4A79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区域划分与 MRAF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CDE67B-ACB3-423B-A2FD-6B5BD61717BE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把焦平面分成约束区和自由区，避免过强的背景约束。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1382778-2339-4911-BFF0-DE0B03B193F3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B0D03D0-790F-4F10-854C-5EAD45FCE584}"/>
              </a:ext>
            </a:extLst>
          </p:cNvPr>
          <p:cNvSpPr>
            <a:spLocks noGrp="1"/>
          </p:cNvSpPr>
          <p:nvPr/>
        </p:nvSpPr>
        <p:spPr>
          <a:xfrm>
            <a:off x="714375" y="2143125"/>
            <a:ext cx="3429000" cy="295275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81050" y="2483984"/>
            <a:ext cx="3295650" cy="2118632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F1AE99A7-FD0A-4B07-9593-DD4AECF653D6}"/>
              </a:ext>
            </a:extLst>
          </p:cNvPr>
          <p:cNvSpPr>
            <a:spLocks noGrp="1"/>
          </p:cNvSpPr>
          <p:nvPr/>
        </p:nvSpPr>
        <p:spPr>
          <a:xfrm>
            <a:off x="809625" y="4905375"/>
            <a:ext cx="323850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flat / signal / free / background 区域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2510614-C854-488D-A0CF-2524F7287BCD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71AE5E9-8B50-4A14-8E17-A25745216E34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6B50031F-029B-AEA2-869F-BEAF1F81CC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2380115"/>
            <a:ext cx="3634734" cy="2516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490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2000CF8C-5B68-406D-9BE3-F09067C53D5A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WGS 权重反馈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722551A-D7A3-4AF5-BB92-CBFC2ED36FEE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只在平顶核心区更新权重，用局部反馈改善均匀性。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DFFE4EC-3326-425A-A79C-ADCCC780B69C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DA772F6-E96D-4CA9-B13B-92718D01A8FF}"/>
              </a:ext>
            </a:extLst>
          </p:cNvPr>
          <p:cNvSpPr>
            <a:spLocks noGrp="1"/>
          </p:cNvSpPr>
          <p:nvPr/>
        </p:nvSpPr>
        <p:spPr>
          <a:xfrm>
            <a:off x="666750" y="2095500"/>
            <a:ext cx="3143250" cy="2714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33425" y="2409145"/>
            <a:ext cx="3009900" cy="193493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3FDBC515-9C57-4BE6-9868-F9B02DA506FA}"/>
              </a:ext>
            </a:extLst>
          </p:cNvPr>
          <p:cNvSpPr>
            <a:spLocks noGrp="1"/>
          </p:cNvSpPr>
          <p:nvPr/>
        </p:nvSpPr>
        <p:spPr>
          <a:xfrm>
            <a:off x="762000" y="4619625"/>
            <a:ext cx="2952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最终 WGS 权重分布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1838CB2-1F69-4F43-B423-5D63ED7C070D}"/>
              </a:ext>
            </a:extLst>
          </p:cNvPr>
          <p:cNvSpPr>
            <a:spLocks noGrp="1"/>
          </p:cNvSpPr>
          <p:nvPr/>
        </p:nvSpPr>
        <p:spPr>
          <a:xfrm>
            <a:off x="4333875" y="2333625"/>
            <a:ext cx="3429000" cy="1066800"/>
          </a:xfrm>
          <a:prstGeom prst="rect">
            <a:avLst/>
          </a:prstGeom>
          <a:solidFill>
            <a:srgbClr val="FAFAFA"/>
          </a:solidFill>
          <a:ln w="9525">
            <a:solidFill>
              <a:srgbClr val="CFCFCF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1359D99-97AA-4DAD-A554-C49B89E92F66}"/>
              </a:ext>
            </a:extLst>
          </p:cNvPr>
          <p:cNvSpPr>
            <a:spLocks noGrp="1"/>
          </p:cNvSpPr>
          <p:nvPr/>
        </p:nvSpPr>
        <p:spPr>
          <a:xfrm>
            <a:off x="4429125" y="2995579"/>
            <a:ext cx="3124200" cy="8001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222222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w = clip(w, 0.5, 2.0)</a:t>
            </a:r>
          </a:p>
          <a:p>
            <a:pPr algn="l">
              <a:defRPr sz="1275" b="0">
                <a:solidFill>
                  <a:srgbClr val="222222"/>
                </a:solidFill>
                <a:latin typeface="Consolas"/>
                <a:ea typeface="Consolas"/>
                <a:cs typeface="Consolas"/>
              </a:defRPr>
            </a:pPr>
            <a:r>
              <a:rPr sz="1275" b="0" dirty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w ← w / mean(w)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91DEA79-8865-4B55-842F-939101D0E1DA}"/>
              </a:ext>
            </a:extLst>
          </p:cNvPr>
          <p:cNvSpPr>
            <a:spLocks noGrp="1"/>
          </p:cNvSpPr>
          <p:nvPr/>
        </p:nvSpPr>
        <p:spPr>
          <a:xfrm>
            <a:off x="4429125" y="3943350"/>
            <a:ext cx="66675" cy="66675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9CA66FB-02BC-4380-879A-D1959DEAB99C}"/>
              </a:ext>
            </a:extLst>
          </p:cNvPr>
          <p:cNvSpPr>
            <a:spLocks noGrp="1"/>
          </p:cNvSpPr>
          <p:nvPr/>
        </p:nvSpPr>
        <p:spPr>
          <a:xfrm>
            <a:off x="4600575" y="3857625"/>
            <a:ext cx="2971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局部偏暗的位置提高目标权重。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BEB7D23-3AFC-4326-A8E9-5B674DB4E228}"/>
              </a:ext>
            </a:extLst>
          </p:cNvPr>
          <p:cNvSpPr>
            <a:spLocks noGrp="1"/>
          </p:cNvSpPr>
          <p:nvPr/>
        </p:nvSpPr>
        <p:spPr>
          <a:xfrm>
            <a:off x="4429125" y="4419600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12EB3409-EDB9-46E4-A1AA-C35F404FF68A}"/>
              </a:ext>
            </a:extLst>
          </p:cNvPr>
          <p:cNvSpPr>
            <a:spLocks noGrp="1"/>
          </p:cNvSpPr>
          <p:nvPr/>
        </p:nvSpPr>
        <p:spPr>
          <a:xfrm>
            <a:off x="4600575" y="4333875"/>
            <a:ext cx="2971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局部偏亮的位置降低目标权重。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DD9242F8-A80F-4E26-B624-98467D1C1CC9}"/>
              </a:ext>
            </a:extLst>
          </p:cNvPr>
          <p:cNvSpPr>
            <a:spLocks noGrp="1"/>
          </p:cNvSpPr>
          <p:nvPr/>
        </p:nvSpPr>
        <p:spPr>
          <a:xfrm>
            <a:off x="4429125" y="4895850"/>
            <a:ext cx="66675" cy="66675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D358511-474C-4EAE-99DC-ACF0EF816680}"/>
              </a:ext>
            </a:extLst>
          </p:cNvPr>
          <p:cNvSpPr>
            <a:spLocks noGrp="1"/>
          </p:cNvSpPr>
          <p:nvPr/>
        </p:nvSpPr>
        <p:spPr>
          <a:xfrm>
            <a:off x="4600575" y="4810125"/>
            <a:ext cx="2971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边缘区、自由区和背景区不参与权重更新。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DF46DFF-4F8F-49A5-A2B8-93B3F70A8FB6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CBB763B-EE2F-4439-A967-B31E4F07CF01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C5BF5113-A768-03C1-AE02-DE933887254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62450" y="2386046"/>
            <a:ext cx="1881332" cy="387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707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BAD9A61-46F0-4272-A8D0-7A1A60A0B304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最终优化流程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04F8F7F-8E84-474A-BC83-B877080BE76F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整个流程从解析初值出发，再逐步加入目标平滑和局部反馈。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9AF3A6D-22AC-498F-A441-ECB4991EE777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A46988-C381-4D82-AC4E-58A411DDDC14}"/>
              </a:ext>
            </a:extLst>
          </p:cNvPr>
          <p:cNvSpPr>
            <a:spLocks noGrp="1"/>
          </p:cNvSpPr>
          <p:nvPr/>
        </p:nvSpPr>
        <p:spPr>
          <a:xfrm>
            <a:off x="619125" y="2905125"/>
            <a:ext cx="11430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2B6CB0"/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4581C03-B188-4428-91B4-9BC4A147932F}"/>
              </a:ext>
            </a:extLst>
          </p:cNvPr>
          <p:cNvSpPr>
            <a:spLocks noGrp="1"/>
          </p:cNvSpPr>
          <p:nvPr/>
        </p:nvSpPr>
        <p:spPr>
          <a:xfrm>
            <a:off x="714375" y="3019425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Romero-Dickey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phase0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81A44CF-1188-461A-888F-9C4731E96FB3}"/>
              </a:ext>
            </a:extLst>
          </p:cNvPr>
          <p:cNvSpPr>
            <a:spLocks noGrp="1"/>
          </p:cNvSpPr>
          <p:nvPr/>
        </p:nvSpPr>
        <p:spPr>
          <a:xfrm>
            <a:off x="1819275" y="3286125"/>
            <a:ext cx="342900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442BCB-C1EC-4794-9A3F-EEE8CA909226}"/>
              </a:ext>
            </a:extLst>
          </p:cNvPr>
          <p:cNvSpPr>
            <a:spLocks noGrp="1"/>
          </p:cNvSpPr>
          <p:nvPr/>
        </p:nvSpPr>
        <p:spPr>
          <a:xfrm>
            <a:off x="2057400" y="318135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94D4BAC-9D16-4241-9DB0-5BC644532BA8}"/>
              </a:ext>
            </a:extLst>
          </p:cNvPr>
          <p:cNvSpPr>
            <a:spLocks noGrp="1"/>
          </p:cNvSpPr>
          <p:nvPr/>
        </p:nvSpPr>
        <p:spPr>
          <a:xfrm>
            <a:off x="2238375" y="2905125"/>
            <a:ext cx="11430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785A12D9-278A-4B11-9DB0-EE0C0DE87420}"/>
              </a:ext>
            </a:extLst>
          </p:cNvPr>
          <p:cNvSpPr>
            <a:spLocks noGrp="1"/>
          </p:cNvSpPr>
          <p:nvPr/>
        </p:nvSpPr>
        <p:spPr>
          <a:xfrm>
            <a:off x="2333625" y="3019425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RTAD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平滑目标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4BD2C02-EEE0-4098-B9DE-F9A4F1316645}"/>
              </a:ext>
            </a:extLst>
          </p:cNvPr>
          <p:cNvSpPr>
            <a:spLocks noGrp="1"/>
          </p:cNvSpPr>
          <p:nvPr/>
        </p:nvSpPr>
        <p:spPr>
          <a:xfrm>
            <a:off x="3438525" y="3286125"/>
            <a:ext cx="342900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3D51C6A-F31C-47D0-AA2C-60CE75753A13}"/>
              </a:ext>
            </a:extLst>
          </p:cNvPr>
          <p:cNvSpPr>
            <a:spLocks noGrp="1"/>
          </p:cNvSpPr>
          <p:nvPr/>
        </p:nvSpPr>
        <p:spPr>
          <a:xfrm>
            <a:off x="3676650" y="318135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443996B-EEC3-4CDD-A35C-807D7F666D48}"/>
              </a:ext>
            </a:extLst>
          </p:cNvPr>
          <p:cNvSpPr>
            <a:spLocks noGrp="1"/>
          </p:cNvSpPr>
          <p:nvPr/>
        </p:nvSpPr>
        <p:spPr>
          <a:xfrm>
            <a:off x="3857625" y="2905125"/>
            <a:ext cx="11430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55A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55014B-32BF-4039-9065-A162E6E7E11C}"/>
              </a:ext>
            </a:extLst>
          </p:cNvPr>
          <p:cNvSpPr>
            <a:spLocks noGrp="1"/>
          </p:cNvSpPr>
          <p:nvPr/>
        </p:nvSpPr>
        <p:spPr>
          <a:xfrm>
            <a:off x="3952875" y="3019425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MRAF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区域投影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4E12639-43AD-4D87-B755-C43B5F0185A1}"/>
              </a:ext>
            </a:extLst>
          </p:cNvPr>
          <p:cNvSpPr>
            <a:spLocks noGrp="1"/>
          </p:cNvSpPr>
          <p:nvPr/>
        </p:nvSpPr>
        <p:spPr>
          <a:xfrm>
            <a:off x="5057775" y="3286125"/>
            <a:ext cx="342900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F9459A2-0C41-4849-A443-EE981A0027E6}"/>
              </a:ext>
            </a:extLst>
          </p:cNvPr>
          <p:cNvSpPr>
            <a:spLocks noGrp="1"/>
          </p:cNvSpPr>
          <p:nvPr/>
        </p:nvSpPr>
        <p:spPr>
          <a:xfrm>
            <a:off x="5295900" y="318135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FB0B1BC-8872-4300-BE56-A4A2BE1CF22F}"/>
              </a:ext>
            </a:extLst>
          </p:cNvPr>
          <p:cNvSpPr>
            <a:spLocks noGrp="1"/>
          </p:cNvSpPr>
          <p:nvPr/>
        </p:nvSpPr>
        <p:spPr>
          <a:xfrm>
            <a:off x="5476875" y="2905125"/>
            <a:ext cx="11430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B7791F"/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9091C70-E5D2-47BD-A0EF-8F82AA5015C0}"/>
              </a:ext>
            </a:extLst>
          </p:cNvPr>
          <p:cNvSpPr>
            <a:spLocks noGrp="1"/>
          </p:cNvSpPr>
          <p:nvPr/>
        </p:nvSpPr>
        <p:spPr>
          <a:xfrm>
            <a:off x="5572125" y="3019425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WGS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权重反馈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DDC4D55-A017-4AF7-B6C3-1F4136C03144}"/>
              </a:ext>
            </a:extLst>
          </p:cNvPr>
          <p:cNvSpPr>
            <a:spLocks noGrp="1"/>
          </p:cNvSpPr>
          <p:nvPr/>
        </p:nvSpPr>
        <p:spPr>
          <a:xfrm>
            <a:off x="6677025" y="3286125"/>
            <a:ext cx="342900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85A6C3E2-1311-444A-8F71-B5456F129B21}"/>
              </a:ext>
            </a:extLst>
          </p:cNvPr>
          <p:cNvSpPr>
            <a:spLocks noGrp="1"/>
          </p:cNvSpPr>
          <p:nvPr/>
        </p:nvSpPr>
        <p:spPr>
          <a:xfrm>
            <a:off x="6915150" y="3181350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23CD69E-1B74-42CB-A127-69ACACC00333}"/>
              </a:ext>
            </a:extLst>
          </p:cNvPr>
          <p:cNvSpPr>
            <a:spLocks noGrp="1"/>
          </p:cNvSpPr>
          <p:nvPr/>
        </p:nvSpPr>
        <p:spPr>
          <a:xfrm>
            <a:off x="7096125" y="2905125"/>
            <a:ext cx="114300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245489ED-BB3A-4FB0-901C-14895136B037}"/>
              </a:ext>
            </a:extLst>
          </p:cNvPr>
          <p:cNvSpPr>
            <a:spLocks noGrp="1"/>
          </p:cNvSpPr>
          <p:nvPr/>
        </p:nvSpPr>
        <p:spPr>
          <a:xfrm>
            <a:off x="7191375" y="3019425"/>
            <a:ext cx="9525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ctr"/>
          <a:lstStyle/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refined</a:t>
            </a:r>
          </a:p>
          <a:p>
            <a:pPr algn="ctr">
              <a:def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phase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1FF14643-8F93-4284-A9EB-E4D64A41336A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8097D878-1393-4A74-8CA2-DE1BB6C25F61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25925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D6A9AC7-7730-4CF8-815D-C14474D27FCD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优化前后对比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F4AE415-FA0E-444D-894A-E25E13B2D717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WGS 优化后，矩形区域内的强度分布更接近平顶。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842AC0B-5F4D-4ECF-86AD-0BC55265CABB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5F5FD8E-AF24-4368-A415-359870EC5C52}"/>
              </a:ext>
            </a:extLst>
          </p:cNvPr>
          <p:cNvSpPr>
            <a:spLocks noGrp="1"/>
          </p:cNvSpPr>
          <p:nvPr/>
        </p:nvSpPr>
        <p:spPr>
          <a:xfrm>
            <a:off x="857250" y="2190750"/>
            <a:ext cx="3143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923925" y="2480582"/>
            <a:ext cx="3009900" cy="193493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0C09F6B0-6BC6-4683-A8A7-FE0219B18CE2}"/>
              </a:ext>
            </a:extLst>
          </p:cNvPr>
          <p:cNvSpPr>
            <a:spLocks noGrp="1"/>
          </p:cNvSpPr>
          <p:nvPr/>
        </p:nvSpPr>
        <p:spPr>
          <a:xfrm>
            <a:off x="952500" y="4667250"/>
            <a:ext cx="2952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优化前：phase0 焦斑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0160DC9-CF68-48BA-BD8E-C3E3C1F206B2}"/>
              </a:ext>
            </a:extLst>
          </p:cNvPr>
          <p:cNvSpPr>
            <a:spLocks noGrp="1"/>
          </p:cNvSpPr>
          <p:nvPr/>
        </p:nvSpPr>
        <p:spPr>
          <a:xfrm>
            <a:off x="4286250" y="3233737"/>
            <a:ext cx="800100" cy="4286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WGS</a:t>
            </a:r>
          </a:p>
          <a:p>
            <a:pPr algn="ctr">
              <a:defRPr sz="120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 dirty="0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200 iter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A7CE63D-2D66-4824-8FFE-805C47C772EA}"/>
              </a:ext>
            </a:extLst>
          </p:cNvPr>
          <p:cNvSpPr>
            <a:spLocks noGrp="1"/>
          </p:cNvSpPr>
          <p:nvPr/>
        </p:nvSpPr>
        <p:spPr>
          <a:xfrm>
            <a:off x="4048125" y="3409950"/>
            <a:ext cx="1143000" cy="19050"/>
          </a:xfrm>
          <a:prstGeom prst="rect">
            <a:avLst/>
          </a:prstGeom>
          <a:solidFill>
            <a:srgbClr val="77777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5730E8E-A960-448A-9B70-9B214D54E589}"/>
              </a:ext>
            </a:extLst>
          </p:cNvPr>
          <p:cNvSpPr>
            <a:spLocks noGrp="1"/>
          </p:cNvSpPr>
          <p:nvPr/>
        </p:nvSpPr>
        <p:spPr>
          <a:xfrm>
            <a:off x="5086350" y="3305175"/>
            <a:ext cx="171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&gt;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BB72DD5-11D8-44C7-981E-29F2DEF381AE}"/>
              </a:ext>
            </a:extLst>
          </p:cNvPr>
          <p:cNvSpPr>
            <a:spLocks noGrp="1"/>
          </p:cNvSpPr>
          <p:nvPr/>
        </p:nvSpPr>
        <p:spPr>
          <a:xfrm>
            <a:off x="5286375" y="2190750"/>
            <a:ext cx="3143250" cy="2667000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5353050" y="2480582"/>
            <a:ext cx="3009900" cy="193493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1268B788-AF05-428A-8368-8D8A5907F61E}"/>
              </a:ext>
            </a:extLst>
          </p:cNvPr>
          <p:cNvSpPr>
            <a:spLocks noGrp="1"/>
          </p:cNvSpPr>
          <p:nvPr/>
        </p:nvSpPr>
        <p:spPr>
          <a:xfrm>
            <a:off x="5381625" y="4667250"/>
            <a:ext cx="2952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优化后：refined 焦斑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1895464-454B-412B-925E-B9E8F636F7E6}"/>
              </a:ext>
            </a:extLst>
          </p:cNvPr>
          <p:cNvSpPr>
            <a:spLocks noGrp="1"/>
          </p:cNvSpPr>
          <p:nvPr/>
        </p:nvSpPr>
        <p:spPr>
          <a:xfrm>
            <a:off x="1143000" y="5429250"/>
            <a:ext cx="68580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这里重点看平顶区域的均匀性，而不是只看轮廓是否像矩形。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5C82DE80-8B1E-46D5-87FC-51FDCB591732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556BD2A-9A15-444B-8B76-919DD618D28D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83792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2D7396E-BCC4-4994-A610-9091294B86FB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结果验证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3B6599-4D93-46E9-B319-5258A3E7F664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中心剖面和指标用于确认尺寸与平台均匀性。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4D17D6B-7228-4F74-9579-6873BCA5EC61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FA9CBBD-FBE5-496F-91E2-9FED87455630}"/>
              </a:ext>
            </a:extLst>
          </p:cNvPr>
          <p:cNvSpPr>
            <a:spLocks noGrp="1"/>
          </p:cNvSpPr>
          <p:nvPr/>
        </p:nvSpPr>
        <p:spPr>
          <a:xfrm>
            <a:off x="619125" y="2095500"/>
            <a:ext cx="5810250" cy="3476625"/>
          </a:xfrm>
          <a:prstGeom prst="rect">
            <a:avLst/>
          </a:prstGeom>
          <a:solidFill>
            <a:srgbClr val="FFFFFF"/>
          </a:solidFill>
          <a:ln w="9525">
            <a:solidFill>
              <a:srgbClr val="D0D0D0"/>
            </a:solidFill>
            <a:prstDash val="solid"/>
          </a:ln>
        </p:spPr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685800" y="2725449"/>
            <a:ext cx="5676900" cy="2064327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AF988D40-9267-4B9F-9EDB-70149F82C9B3}"/>
              </a:ext>
            </a:extLst>
          </p:cNvPr>
          <p:cNvSpPr>
            <a:spLocks noGrp="1"/>
          </p:cNvSpPr>
          <p:nvPr/>
        </p:nvSpPr>
        <p:spPr>
          <a:xfrm>
            <a:off x="714375" y="5381625"/>
            <a:ext cx="5619750" cy="1333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x / y 中心剖面对比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6744D5B-7AB1-4794-8350-2B94DB130058}"/>
              </a:ext>
            </a:extLst>
          </p:cNvPr>
          <p:cNvSpPr>
            <a:spLocks noGrp="1"/>
          </p:cNvSpPr>
          <p:nvPr/>
        </p:nvSpPr>
        <p:spPr>
          <a:xfrm>
            <a:off x="6715125" y="2238375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B0002A"/>
            </a:solidFill>
            <a:prstDash val="solid"/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B95A751-4F19-47FD-9ACF-2D7BCC8870E7}"/>
              </a:ext>
            </a:extLst>
          </p:cNvPr>
          <p:cNvSpPr>
            <a:spLocks noGrp="1"/>
          </p:cNvSpPr>
          <p:nvPr/>
        </p:nvSpPr>
        <p:spPr>
          <a:xfrm>
            <a:off x="6829425" y="2314575"/>
            <a:ext cx="1390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B0002A"/>
                </a:solidFill>
                <a:latin typeface="Microsoft YaHei"/>
                <a:ea typeface="Microsoft YaHei"/>
                <a:cs typeface="Microsoft YaHei"/>
              </a:rPr>
              <a:t>1.86%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661151C-002E-4154-A066-56CE50558518}"/>
              </a:ext>
            </a:extLst>
          </p:cNvPr>
          <p:cNvSpPr>
            <a:spLocks noGrp="1"/>
          </p:cNvSpPr>
          <p:nvPr/>
        </p:nvSpPr>
        <p:spPr>
          <a:xfrm>
            <a:off x="6829425" y="2571750"/>
            <a:ext cx="13906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RMS 非均匀性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78821A-9E3B-4321-861B-273D668102BE}"/>
              </a:ext>
            </a:extLst>
          </p:cNvPr>
          <p:cNvSpPr>
            <a:spLocks noGrp="1"/>
          </p:cNvSpPr>
          <p:nvPr/>
        </p:nvSpPr>
        <p:spPr>
          <a:xfrm>
            <a:off x="6829425" y="2733675"/>
            <a:ext cx="13906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mask_flat 内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F19757A-852D-45D6-BF2D-7930CA8D4FCD}"/>
              </a:ext>
            </a:extLst>
          </p:cNvPr>
          <p:cNvSpPr>
            <a:spLocks noGrp="1"/>
          </p:cNvSpPr>
          <p:nvPr/>
        </p:nvSpPr>
        <p:spPr>
          <a:xfrm>
            <a:off x="6715125" y="3190875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B6CB0"/>
            </a:solidFill>
            <a:prstDash val="solid"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59EE2E1-BF97-4F93-953A-2BEBC8C552F5}"/>
              </a:ext>
            </a:extLst>
          </p:cNvPr>
          <p:cNvSpPr>
            <a:spLocks noGrp="1"/>
          </p:cNvSpPr>
          <p:nvPr/>
        </p:nvSpPr>
        <p:spPr>
          <a:xfrm>
            <a:off x="6829424" y="3267075"/>
            <a:ext cx="1552575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B6CB0"/>
                </a:solidFill>
                <a:latin typeface="Microsoft YaHei"/>
                <a:ea typeface="Microsoft YaHei"/>
                <a:cs typeface="Microsoft YaHei"/>
              </a:rPr>
              <a:t>330.2 / 123.6 μm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A6B01CD-1F84-40A6-9BD3-B95C0F1816D4}"/>
              </a:ext>
            </a:extLst>
          </p:cNvPr>
          <p:cNvSpPr>
            <a:spLocks noGrp="1"/>
          </p:cNvSpPr>
          <p:nvPr/>
        </p:nvSpPr>
        <p:spPr>
          <a:xfrm>
            <a:off x="6829425" y="3524250"/>
            <a:ext cx="13906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si</a:t>
            </a:r>
            <a:r>
              <a:rPr lang="en-US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ze</a:t>
            </a:r>
            <a:r>
              <a:rPr lang="en-US" altLang="zh-CN"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5</a:t>
            </a:r>
            <a:r>
              <a:rPr sz="9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0 x / y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C9FE1AA-0EAE-4042-A727-30E255ADEBB4}"/>
              </a:ext>
            </a:extLst>
          </p:cNvPr>
          <p:cNvSpPr>
            <a:spLocks noGrp="1"/>
          </p:cNvSpPr>
          <p:nvPr/>
        </p:nvSpPr>
        <p:spPr>
          <a:xfrm>
            <a:off x="6829425" y="3686175"/>
            <a:ext cx="13906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目标 330 / 120 μm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F82D3C63-B8C2-4E89-B641-2679305CFAFA}"/>
              </a:ext>
            </a:extLst>
          </p:cNvPr>
          <p:cNvSpPr>
            <a:spLocks noGrp="1"/>
          </p:cNvSpPr>
          <p:nvPr/>
        </p:nvSpPr>
        <p:spPr>
          <a:xfrm>
            <a:off x="6715125" y="4143375"/>
            <a:ext cx="1619250" cy="685800"/>
          </a:xfrm>
          <a:prstGeom prst="rect">
            <a:avLst/>
          </a:prstGeom>
          <a:solidFill>
            <a:srgbClr val="FFFFFF"/>
          </a:solidFill>
          <a:ln w="14288">
            <a:solidFill>
              <a:srgbClr val="2F855A"/>
            </a:solidFill>
            <a:prstDash val="solid"/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E166EC93-9FEE-4635-9360-C82E345AE5A1}"/>
              </a:ext>
            </a:extLst>
          </p:cNvPr>
          <p:cNvSpPr>
            <a:spLocks noGrp="1"/>
          </p:cNvSpPr>
          <p:nvPr/>
        </p:nvSpPr>
        <p:spPr>
          <a:xfrm>
            <a:off x="6829425" y="4219575"/>
            <a:ext cx="1390650" cy="2381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F855A"/>
                </a:solidFill>
                <a:latin typeface="Microsoft YaHei"/>
                <a:ea typeface="Microsoft YaHei"/>
                <a:cs typeface="Microsoft YaHei"/>
              </a:rPr>
              <a:t>92.5%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F2312EB-B14B-4A88-B500-50035AAB1843}"/>
              </a:ext>
            </a:extLst>
          </p:cNvPr>
          <p:cNvSpPr>
            <a:spLocks noGrp="1"/>
          </p:cNvSpPr>
          <p:nvPr/>
        </p:nvSpPr>
        <p:spPr>
          <a:xfrm>
            <a:off x="6829425" y="4476750"/>
            <a:ext cx="1390650" cy="1619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e^-2 效率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370C479-F3DF-4C5B-BCA3-665FF84C2C59}"/>
              </a:ext>
            </a:extLst>
          </p:cNvPr>
          <p:cNvSpPr>
            <a:spLocks noGrp="1"/>
          </p:cNvSpPr>
          <p:nvPr/>
        </p:nvSpPr>
        <p:spPr>
          <a:xfrm>
            <a:off x="6829425" y="4638675"/>
            <a:ext cx="1390650" cy="123825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13.5% 轮廓内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3ACD46D-4A68-4497-9434-9417484CB9A8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1A153F70-E965-4177-A04C-EA05144F13F2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511776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DED5D51-D4B5-4C8C-82A1-098E0239BF30}"/>
              </a:ext>
            </a:extLst>
          </p:cNvPr>
          <p:cNvSpPr>
            <a:spLocks noGrp="1"/>
          </p:cNvSpPr>
          <p:nvPr/>
        </p:nvSpPr>
        <p:spPr>
          <a:xfrm>
            <a:off x="552450" y="1066800"/>
            <a:ext cx="76200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小结与实验注意点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C3C881-826D-4327-A8BF-F1EFB455073A}"/>
              </a:ext>
            </a:extLst>
          </p:cNvPr>
          <p:cNvSpPr>
            <a:spLocks noGrp="1"/>
          </p:cNvSpPr>
          <p:nvPr/>
        </p:nvSpPr>
        <p:spPr>
          <a:xfrm>
            <a:off x="571500" y="1552575"/>
            <a:ext cx="752475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方法上先建立物理初值，再用受控的迭代修正平顶区。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CB69AA1-2B40-487F-BADD-54DB39E8C261}"/>
              </a:ext>
            </a:extLst>
          </p:cNvPr>
          <p:cNvSpPr>
            <a:spLocks noGrp="1"/>
          </p:cNvSpPr>
          <p:nvPr/>
        </p:nvSpPr>
        <p:spPr>
          <a:xfrm>
            <a:off x="571500" y="1809750"/>
            <a:ext cx="7810500" cy="19050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55B6328-6E94-4B04-AFF1-BF0D0F246501}"/>
              </a:ext>
            </a:extLst>
          </p:cNvPr>
          <p:cNvSpPr>
            <a:spLocks noGrp="1"/>
          </p:cNvSpPr>
          <p:nvPr/>
        </p:nvSpPr>
        <p:spPr>
          <a:xfrm>
            <a:off x="876300" y="2419350"/>
            <a:ext cx="66675" cy="66675"/>
          </a:xfrm>
          <a:prstGeom prst="rect">
            <a:avLst/>
          </a:prstGeom>
          <a:solidFill>
            <a:srgbClr val="B0002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4C6D826-0870-4100-AAF9-C674FF8D927C}"/>
              </a:ext>
            </a:extLst>
          </p:cNvPr>
          <p:cNvSpPr>
            <a:spLocks noGrp="1"/>
          </p:cNvSpPr>
          <p:nvPr/>
        </p:nvSpPr>
        <p:spPr>
          <a:xfrm>
            <a:off x="1047750" y="2333625"/>
            <a:ext cx="659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不强压远背景：背景约束过强会牵制平台均匀性。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321E666-9DFB-4720-A846-55E483501EFD}"/>
              </a:ext>
            </a:extLst>
          </p:cNvPr>
          <p:cNvSpPr>
            <a:spLocks noGrp="1"/>
          </p:cNvSpPr>
          <p:nvPr/>
        </p:nvSpPr>
        <p:spPr>
          <a:xfrm>
            <a:off x="876300" y="3038475"/>
            <a:ext cx="66675" cy="66675"/>
          </a:xfrm>
          <a:prstGeom prst="rect">
            <a:avLst/>
          </a:prstGeom>
          <a:solidFill>
            <a:srgbClr val="2B6CB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6A1C5C2-F6A6-46FA-BB21-0CA4FCC92897}"/>
              </a:ext>
            </a:extLst>
          </p:cNvPr>
          <p:cNvSpPr>
            <a:spLocks noGrp="1"/>
          </p:cNvSpPr>
          <p:nvPr/>
        </p:nvSpPr>
        <p:spPr>
          <a:xfrm>
            <a:off x="1047750" y="2952750"/>
            <a:ext cx="659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直接 flat-local WGS：本项目中不需要单独的 MRAF 预热阶段。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1C4C964-6B8D-40BA-A790-F5D0E7B3B533}"/>
              </a:ext>
            </a:extLst>
          </p:cNvPr>
          <p:cNvSpPr>
            <a:spLocks noGrp="1"/>
          </p:cNvSpPr>
          <p:nvPr/>
        </p:nvSpPr>
        <p:spPr>
          <a:xfrm>
            <a:off x="876300" y="3657600"/>
            <a:ext cx="66675" cy="66675"/>
          </a:xfrm>
          <a:prstGeom prst="rect">
            <a:avLst/>
          </a:prstGeom>
          <a:solidFill>
            <a:srgbClr val="2F855A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F7B848-DB02-4A81-8EE9-57ECBDEFA143}"/>
              </a:ext>
            </a:extLst>
          </p:cNvPr>
          <p:cNvSpPr>
            <a:spLocks noGrp="1"/>
          </p:cNvSpPr>
          <p:nvPr/>
        </p:nvSpPr>
        <p:spPr>
          <a:xfrm>
            <a:off x="1047750" y="3571875"/>
            <a:ext cx="65913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SLM 相位转换要做复振幅插值：先插值 exp(iφ)，再取相位。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1A03E86-1323-4D3B-BEC0-79AB6628D2AB}"/>
              </a:ext>
            </a:extLst>
          </p:cNvPr>
          <p:cNvSpPr>
            <a:spLocks noGrp="1"/>
          </p:cNvSpPr>
          <p:nvPr/>
        </p:nvSpPr>
        <p:spPr>
          <a:xfrm>
            <a:off x="876300" y="4276725"/>
            <a:ext cx="66675" cy="66675"/>
          </a:xfrm>
          <a:prstGeom prst="rect">
            <a:avLst/>
          </a:prstGeom>
          <a:solidFill>
            <a:srgbClr val="B7791F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C3A2B34-F0FF-484D-A153-2FEE39133EE9}"/>
              </a:ext>
            </a:extLst>
          </p:cNvPr>
          <p:cNvSpPr>
            <a:spLocks noGrp="1"/>
          </p:cNvSpPr>
          <p:nvPr/>
        </p:nvSpPr>
        <p:spPr>
          <a:xfrm>
            <a:off x="1047750" y="4191000"/>
            <a:ext cx="6781800" cy="4000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实验排查可从离焦、光束偏移和椭圆度入手；容差分析作为后续对光路误差的辅助判断。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3CBE3353-AFEA-412F-8C3E-00A41261F80D}"/>
              </a:ext>
            </a:extLst>
          </p:cNvPr>
          <p:cNvSpPr>
            <a:spLocks noGrp="1"/>
          </p:cNvSpPr>
          <p:nvPr/>
        </p:nvSpPr>
        <p:spPr>
          <a:xfrm>
            <a:off x="952500" y="5286375"/>
            <a:ext cx="72390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555555"/>
                </a:solidFill>
                <a:latin typeface="Microsoft YaHei"/>
                <a:ea typeface="Microsoft YaHei"/>
                <a:cs typeface="Microsoft YaHei"/>
              </a:rPr>
              <a:t>最终目标不是只得到一张图，而是得到一条能解释、能复现、能上实验的 DOE 设计流程。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4ED33E-F402-44CA-A573-6948C99152DB}"/>
              </a:ext>
            </a:extLst>
          </p:cNvPr>
          <p:cNvSpPr>
            <a:spLocks noGrp="1"/>
          </p:cNvSpPr>
          <p:nvPr/>
        </p:nvSpPr>
        <p:spPr>
          <a:xfrm>
            <a:off x="571500" y="6343650"/>
            <a:ext cx="33337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Point2P DOE 光束整形组会汇报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7264659C-EB44-41F0-9EC8-8A45290C7A7C}"/>
              </a:ext>
            </a:extLst>
          </p:cNvPr>
          <p:cNvSpPr>
            <a:spLocks noGrp="1"/>
          </p:cNvSpPr>
          <p:nvPr/>
        </p:nvSpPr>
        <p:spPr>
          <a:xfrm>
            <a:off x="7953375" y="6343650"/>
            <a:ext cx="5715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77777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966853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457</Words>
  <Application>Microsoft Office PowerPoint</Application>
  <DocSecurity>0</DocSecurity>
  <PresentationFormat>全屏显示(4:3)</PresentationFormat>
  <Paragraphs>141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Microsoft YaHei</vt:lpstr>
      <vt:lpstr>Calibri</vt:lpstr>
      <vt:lpstr>Cambria Math</vt:lpstr>
      <vt:lpstr>Consolas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乡 万</cp:lastModifiedBy>
  <cp:revision>5</cp:revision>
  <dcterms:created xsi:type="dcterms:W3CDTF">2026-06-08T09:05:19Z</dcterms:created>
  <dcterms:modified xsi:type="dcterms:W3CDTF">2026-06-08T09:33:51Z</dcterms:modified>
</cp:coreProperties>
</file>