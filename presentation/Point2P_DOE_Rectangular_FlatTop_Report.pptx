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07dc4ff144512" /><Relationship Type="http://schemas.openxmlformats.org/officeDocument/2006/relationships/extended-properties" Target="/docProps/app.xml" Id="Rb7e7283d7cbe4c93" /><Relationship Type="http://schemas.openxmlformats.org/officeDocument/2006/relationships/officeDocument" Target="/ppt/presentation.xml" Id="R2cac4053243e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5901678b0b428a"/>
  </p:sldMasterIdLst>
  <p:notesMasterIdLst>
    <p:notesMasterId xmlns:r="http://schemas.openxmlformats.org/officeDocument/2006/relationships" r:id="Rfd2a2b1d0aad4d7a"/>
  </p:notesMasterIdLst>
  <p:sldIdLst>
    <p:sldId xmlns:r="http://schemas.openxmlformats.org/officeDocument/2006/relationships" id="256" r:id="R0f42e8b458374ed1"/>
    <p:sldId xmlns:r="http://schemas.openxmlformats.org/officeDocument/2006/relationships" id="257" r:id="Reece12198abb4f85"/>
    <p:sldId xmlns:r="http://schemas.openxmlformats.org/officeDocument/2006/relationships" id="258" r:id="R0eedc1d378784be6"/>
    <p:sldId xmlns:r="http://schemas.openxmlformats.org/officeDocument/2006/relationships" id="259" r:id="Ra93743179ba643f7"/>
    <p:sldId xmlns:r="http://schemas.openxmlformats.org/officeDocument/2006/relationships" id="260" r:id="R4d4428d7dd3541f4"/>
    <p:sldId xmlns:r="http://schemas.openxmlformats.org/officeDocument/2006/relationships" id="261" r:id="R86783a2135b54af8"/>
    <p:sldId xmlns:r="http://schemas.openxmlformats.org/officeDocument/2006/relationships" id="262" r:id="R99ff0cc30f4847d0"/>
    <p:sldId xmlns:r="http://schemas.openxmlformats.org/officeDocument/2006/relationships" id="263" r:id="R73e49a14ef3443d7"/>
    <p:sldId xmlns:r="http://schemas.openxmlformats.org/officeDocument/2006/relationships" id="264" r:id="R308a943348ea4925"/>
    <p:sldId xmlns:r="http://schemas.openxmlformats.org/officeDocument/2006/relationships" id="265" r:id="R6ea0bfba06764db2"/>
    <p:sldId xmlns:r="http://schemas.openxmlformats.org/officeDocument/2006/relationships" id="266" r:id="R6c4b2d572d944c70"/>
    <p:sldId xmlns:r="http://schemas.openxmlformats.org/officeDocument/2006/relationships" id="267" r:id="Ra2fd26bc3b854503"/>
    <p:sldId xmlns:r="http://schemas.openxmlformats.org/officeDocument/2006/relationships" id="268" r:id="R6b7f2d802d964cbf"/>
    <p:sldId xmlns:r="http://schemas.openxmlformats.org/officeDocument/2006/relationships" id="269" r:id="R26ee4835f2384606"/>
    <p:sldId xmlns:r="http://schemas.openxmlformats.org/officeDocument/2006/relationships" id="270" r:id="Ra9306f4740474cf0"/>
    <p:sldId xmlns:r="http://schemas.openxmlformats.org/officeDocument/2006/relationships" id="271" r:id="R9b1d84065b2941b7"/>
    <p:sldId xmlns:r="http://schemas.openxmlformats.org/officeDocument/2006/relationships" id="272" r:id="Re873b68af7cc4987"/>
    <p:sldId xmlns:r="http://schemas.openxmlformats.org/officeDocument/2006/relationships" id="273" r:id="Re1ac1978598648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ada3cab0a04d4e" /><Relationship Type="http://schemas.openxmlformats.org/officeDocument/2006/relationships/slideMaster" Target="/ppt/slideMasters/slideMaster1.xml" Id="R3f5901678b0b428a" /><Relationship Type="http://schemas.openxmlformats.org/officeDocument/2006/relationships/notesMaster" Target="/ppt/notesMasters/notesMaster1.xml" Id="Rfd2a2b1d0aad4d7a" /><Relationship Type="http://schemas.openxmlformats.org/officeDocument/2006/relationships/presProps" Target="/ppt/presProps.xml" Id="Rb05868a26128466e" /><Relationship Type="http://schemas.openxmlformats.org/officeDocument/2006/relationships/viewProps" Target="/ppt/viewProps.xml" Id="R76d3bfb892d94c52" /><Relationship Type="http://schemas.openxmlformats.org/officeDocument/2006/relationships/tableStyles" Target="/ppt/tableStyles.xml" Id="Re41890ee621848ef" /><Relationship Type="http://schemas.openxmlformats.org/officeDocument/2006/relationships/slide" Target="/ppt/slides/slide1.xml" Id="R0f42e8b458374ed1" /><Relationship Type="http://schemas.openxmlformats.org/officeDocument/2006/relationships/slide" Target="/ppt/slides/slide2.xml" Id="Reece12198abb4f85" /><Relationship Type="http://schemas.openxmlformats.org/officeDocument/2006/relationships/slide" Target="/ppt/slides/slide3.xml" Id="R0eedc1d378784be6" /><Relationship Type="http://schemas.openxmlformats.org/officeDocument/2006/relationships/slide" Target="/ppt/slides/slide4.xml" Id="Ra93743179ba643f7" /><Relationship Type="http://schemas.openxmlformats.org/officeDocument/2006/relationships/slide" Target="/ppt/slides/slide5.xml" Id="R4d4428d7dd3541f4" /><Relationship Type="http://schemas.openxmlformats.org/officeDocument/2006/relationships/slide" Target="/ppt/slides/slide6.xml" Id="R86783a2135b54af8" /><Relationship Type="http://schemas.openxmlformats.org/officeDocument/2006/relationships/slide" Target="/ppt/slides/slide7.xml" Id="R99ff0cc30f4847d0" /><Relationship Type="http://schemas.openxmlformats.org/officeDocument/2006/relationships/slide" Target="/ppt/slides/slide8.xml" Id="R73e49a14ef3443d7" /><Relationship Type="http://schemas.openxmlformats.org/officeDocument/2006/relationships/slide" Target="/ppt/slides/slide9.xml" Id="R308a943348ea4925" /><Relationship Type="http://schemas.openxmlformats.org/officeDocument/2006/relationships/slide" Target="/ppt/slides/slide10.xml" Id="R6ea0bfba06764db2" /><Relationship Type="http://schemas.openxmlformats.org/officeDocument/2006/relationships/slide" Target="/ppt/slides/slide11.xml" Id="R6c4b2d572d944c70" /><Relationship Type="http://schemas.openxmlformats.org/officeDocument/2006/relationships/slide" Target="/ppt/slides/slide12.xml" Id="Ra2fd26bc3b854503" /><Relationship Type="http://schemas.openxmlformats.org/officeDocument/2006/relationships/slide" Target="/ppt/slides/slide13.xml" Id="R6b7f2d802d964cbf" /><Relationship Type="http://schemas.openxmlformats.org/officeDocument/2006/relationships/slide" Target="/ppt/slides/slide14.xml" Id="R26ee4835f2384606" /><Relationship Type="http://schemas.openxmlformats.org/officeDocument/2006/relationships/slide" Target="/ppt/slides/slide15.xml" Id="Ra9306f4740474cf0" /><Relationship Type="http://schemas.openxmlformats.org/officeDocument/2006/relationships/slide" Target="/ppt/slides/slide16.xml" Id="R9b1d84065b2941b7" /><Relationship Type="http://schemas.openxmlformats.org/officeDocument/2006/relationships/slide" Target="/ppt/slides/slide17.xml" Id="Re873b68af7cc4987" /><Relationship Type="http://schemas.openxmlformats.org/officeDocument/2006/relationships/slide" Target="/ppt/slides/slide18.xml" Id="Re1ac19785986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1e8f5bf344c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34aeb6eb942cc" /><Relationship Type="http://schemas.openxmlformats.org/officeDocument/2006/relationships/notesMaster" Target="/ppt/notesMasters/notesMaster1.xml" Id="Rabcbf39e0535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879a806394c32" /><Relationship Type="http://schemas.openxmlformats.org/officeDocument/2006/relationships/notesMaster" Target="/ppt/notesMasters/notesMaster1.xml" Id="R2c617fd062fb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031d213484c83" /><Relationship Type="http://schemas.openxmlformats.org/officeDocument/2006/relationships/notesMaster" Target="/ppt/notesMasters/notesMaster1.xml" Id="Rd5f7ee885f644c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165684ad7b43e0" /><Relationship Type="http://schemas.openxmlformats.org/officeDocument/2006/relationships/notesMaster" Target="/ppt/notesMasters/notesMaster1.xml" Id="R3fbf33876eb04c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f6abc4fc924e9e" /><Relationship Type="http://schemas.openxmlformats.org/officeDocument/2006/relationships/notesMaster" Target="/ppt/notesMasters/notesMaster1.xml" Id="Rf49379a726f4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43e6a73474892" /><Relationship Type="http://schemas.openxmlformats.org/officeDocument/2006/relationships/notesMaster" Target="/ppt/notesMasters/notesMaster1.xml" Id="Rd7b6433a03f145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30a0668f52430f" /><Relationship Type="http://schemas.openxmlformats.org/officeDocument/2006/relationships/notesMaster" Target="/ppt/notesMasters/notesMaster1.xml" Id="R6861c844adc442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7b6b53606b427a" /><Relationship Type="http://schemas.openxmlformats.org/officeDocument/2006/relationships/notesMaster" Target="/ppt/notesMasters/notesMaster1.xml" Id="R289a050ae6f647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5849ad74ae41d4" /><Relationship Type="http://schemas.openxmlformats.org/officeDocument/2006/relationships/notesMaster" Target="/ppt/notesMasters/notesMaster1.xml" Id="R77558cdfd5c04c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4f8f9e67d843cd" /><Relationship Type="http://schemas.openxmlformats.org/officeDocument/2006/relationships/notesMaster" Target="/ppt/notesMasters/notesMaster1.xml" Id="R4265c7f9b01342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cfcd872244ff8" /><Relationship Type="http://schemas.openxmlformats.org/officeDocument/2006/relationships/notesMaster" Target="/ppt/notesMasters/notesMaster1.xml" Id="Rcd165c4cb5c047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faa9f471b3408f" /><Relationship Type="http://schemas.openxmlformats.org/officeDocument/2006/relationships/notesMaster" Target="/ppt/notesMasters/notesMaster1.xml" Id="R6ea4a8d7acae4c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9a03c302e34d74" /><Relationship Type="http://schemas.openxmlformats.org/officeDocument/2006/relationships/notesMaster" Target="/ppt/notesMasters/notesMaster1.xml" Id="Rc1e130ce34654e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1e1f9bd80343b4" /><Relationship Type="http://schemas.openxmlformats.org/officeDocument/2006/relationships/notesMaster" Target="/ppt/notesMasters/notesMaster1.xml" Id="Rcf5a11b1c61a4d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4086745fa04638" /><Relationship Type="http://schemas.openxmlformats.org/officeDocument/2006/relationships/notesMaster" Target="/ppt/notesMasters/notesMaster1.xml" Id="Re3132e38bf8f4a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16b7b93e364f8e" /><Relationship Type="http://schemas.openxmlformats.org/officeDocument/2006/relationships/notesMaster" Target="/ppt/notesMasters/notesMaster1.xml" Id="R89bf6d968f0d48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929c72db614014" /><Relationship Type="http://schemas.openxmlformats.org/officeDocument/2006/relationships/notesMaster" Target="/ppt/notesMasters/notesMaster1.xml" Id="R2ae206aa768748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46a0930eb14abf" /><Relationship Type="http://schemas.openxmlformats.org/officeDocument/2006/relationships/notesMaster" Target="/ppt/notesMasters/notesMaster1.xml" Id="R97189b45dd2c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782b80831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438b2b091d4087" /><Relationship Type="http://schemas.openxmlformats.org/officeDocument/2006/relationships/slideLayout" Target="/ppt/slideLayouts/slideLayout1.xml" Id="R0fa0b5b47c7645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0b5b47c7645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9f0bb78b34dc4" /><Relationship Type="http://schemas.openxmlformats.org/officeDocument/2006/relationships/image" Target="/ppt/media/image.png" Id="Rcf65602e32864752" /><Relationship Type="http://schemas.openxmlformats.org/officeDocument/2006/relationships/notesSlide" Target="/ppt/notesSlides/notesSlide1.xml" Id="Ra4d7a585f88349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ec462a5a46c5" /><Relationship Type="http://schemas.openxmlformats.org/officeDocument/2006/relationships/image" Target="/ppt/media/image2.png" Id="R3bc4c3f6dd8e401d" /><Relationship Type="http://schemas.openxmlformats.org/officeDocument/2006/relationships/notesSlide" Target="/ppt/notesSlides/notesSlide2.xml" Id="R0e2e44185dc9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ee11d253d412a" /><Relationship Type="http://schemas.openxmlformats.org/officeDocument/2006/relationships/notesSlide" Target="/ppt/notesSlides/notesSlide3.xml" Id="Rc5715f5038504b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c38fe8451467a" /><Relationship Type="http://schemas.openxmlformats.org/officeDocument/2006/relationships/image" Target="/ppt/media/image3.png" Id="Rd7021cdcdad4414a" /><Relationship Type="http://schemas.openxmlformats.org/officeDocument/2006/relationships/notesSlide" Target="/ppt/notesSlides/notesSlide4.xml" Id="R4c1cfed6b623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32e63be6f4d73" /><Relationship Type="http://schemas.openxmlformats.org/officeDocument/2006/relationships/image" Target="/ppt/media/image4.png" Id="Rc338093b6fd34685" /><Relationship Type="http://schemas.openxmlformats.org/officeDocument/2006/relationships/image" Target="/ppt/media/image5.png" Id="Rbf339ede43474b7d" /><Relationship Type="http://schemas.openxmlformats.org/officeDocument/2006/relationships/notesSlide" Target="/ppt/notesSlides/notesSlide5.xml" Id="R42a8a577dceb4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92ecb075d447d" /><Relationship Type="http://schemas.openxmlformats.org/officeDocument/2006/relationships/image" Target="/ppt/media/image6.png" Id="R986f8bb16e944926" /><Relationship Type="http://schemas.openxmlformats.org/officeDocument/2006/relationships/notesSlide" Target="/ppt/notesSlides/notesSlide6.xml" Id="R671f57c0d91446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65129770a4368" /><Relationship Type="http://schemas.openxmlformats.org/officeDocument/2006/relationships/image" Target="/ppt/media/image7.png" Id="R1b5d0b037dfa4a3f" /><Relationship Type="http://schemas.openxmlformats.org/officeDocument/2006/relationships/image" Target="/ppt/media/image8.png" Id="Rcbfa7d49f59a4781" /><Relationship Type="http://schemas.openxmlformats.org/officeDocument/2006/relationships/notesSlide" Target="/ppt/notesSlides/notesSlide7.xml" Id="Re683caad91ac48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a31d5fdc4862" /><Relationship Type="http://schemas.openxmlformats.org/officeDocument/2006/relationships/image" Target="/ppt/media/image9.png" Id="Rbc9464d2f59d48ff" /><Relationship Type="http://schemas.openxmlformats.org/officeDocument/2006/relationships/image" Target="/ppt/media/image10.png" Id="R163ad6e2d8fc4649" /><Relationship Type="http://schemas.openxmlformats.org/officeDocument/2006/relationships/notesSlide" Target="/ppt/notesSlides/notesSlide8.xml" Id="R0bf25f59f05f42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3f9a4259a4603" /><Relationship Type="http://schemas.openxmlformats.org/officeDocument/2006/relationships/notesSlide" Target="/ppt/notesSlides/notesSlide9.xml" Id="R1c57fcdfb73f4a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2715ffb20411b" /><Relationship Type="http://schemas.openxmlformats.org/officeDocument/2006/relationships/image" Target="/ppt/media/image11.png" Id="R4ff9ebbbc225458b" /><Relationship Type="http://schemas.openxmlformats.org/officeDocument/2006/relationships/notesSlide" Target="/ppt/notesSlides/notesSlide10.xml" Id="R2003e2a921a643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f2c593f194865" /><Relationship Type="http://schemas.openxmlformats.org/officeDocument/2006/relationships/image" Target="/ppt/media/image12.png" Id="Rd95675cdbe864d2f" /><Relationship Type="http://schemas.openxmlformats.org/officeDocument/2006/relationships/image" Target="/ppt/media/image13.png" Id="R14a2e41751bd4e1e" /><Relationship Type="http://schemas.openxmlformats.org/officeDocument/2006/relationships/notesSlide" Target="/ppt/notesSlides/notesSlide11.xml" Id="Rf09e694a60ab4c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03e39db964ab0" /><Relationship Type="http://schemas.openxmlformats.org/officeDocument/2006/relationships/image" Target="/ppt/media/image14.png" Id="R02e25e22375e4336" /><Relationship Type="http://schemas.openxmlformats.org/officeDocument/2006/relationships/notesSlide" Target="/ppt/notesSlides/notesSlide12.xml" Id="Rc0257f48fc7c41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a9db7ac2a4034" /><Relationship Type="http://schemas.openxmlformats.org/officeDocument/2006/relationships/image" Target="/ppt/media/image15.png" Id="R472c958108f5433f" /><Relationship Type="http://schemas.openxmlformats.org/officeDocument/2006/relationships/notesSlide" Target="/ppt/notesSlides/notesSlide13.xml" Id="R5a9627668f0447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71b8dffcf4be3" /><Relationship Type="http://schemas.openxmlformats.org/officeDocument/2006/relationships/image" Target="/ppt/media/image16.png" Id="R63a08d358bdf4734" /><Relationship Type="http://schemas.openxmlformats.org/officeDocument/2006/relationships/notesSlide" Target="/ppt/notesSlides/notesSlide14.xml" Id="Raf8839380ffd44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5c15c16db41e8" /><Relationship Type="http://schemas.openxmlformats.org/officeDocument/2006/relationships/notesSlide" Target="/ppt/notesSlides/notesSlide15.xml" Id="R99a469cadfae46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2aee5482145df" /><Relationship Type="http://schemas.openxmlformats.org/officeDocument/2006/relationships/notesSlide" Target="/ppt/notesSlides/notesSlide16.xml" Id="Rd9400e21d4de45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52c491ed14c21" /><Relationship Type="http://schemas.openxmlformats.org/officeDocument/2006/relationships/notesSlide" Target="/ppt/notesSlides/notesSlide17.xml" Id="Rd877739daaef40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d5291e2344663" /><Relationship Type="http://schemas.openxmlformats.org/officeDocument/2006/relationships/image" Target="/ppt/media/image17.png" Id="R99f8a41fea8347f7" /><Relationship Type="http://schemas.openxmlformats.org/officeDocument/2006/relationships/notesSlide" Target="/ppt/notesSlides/notesSlide18.xml" Id="R9d5da9017d7b49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B96B8-B399-46E9-9C63-F6B76A8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B217-97CA-4B11-A6BB-CEF9A6F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F8782-5D2D-4522-883E-E5A2CB9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6FB2-6CA1-4DF5-8E9F-BD74BC45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640FD-97E3-48AF-96C5-724FF72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Point2P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16F0E-A1CA-479C-B072-EE015B6A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矩形平顶 DOE 光束整形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A19F7-811A-4D11-AFAF-8588039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从 Romero-Dickey 物理初值，到 RTAD 目标，再到 WGS 迭代精修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5D4E8-91DD-485C-B6E7-38B5207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38200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5602e32864752"/>
          <a:stretch xmlns:a="http://schemas.openxmlformats.org/drawingml/2006/main"/>
        </p:blipFill>
        <p:spPr>
          <a:xfrm xmlns:a="http://schemas.openxmlformats.org/drawingml/2006/main">
            <a:off x="7411508" y="914400"/>
            <a:ext cx="3274483" cy="21050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A515A-4B83-44A1-89ED-79DC108A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final refined reconstruction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52ED9-E5F1-45D9-86E4-E369679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DFF76-B969-4F2B-BB6F-9019384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70438-2D3C-47E5-BBF7-09219CE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1.86%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BB5FF-D443-45DA-AB5D-AA32AC52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RMS 非均匀性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AEDC3-C23B-4334-AFA9-657B0860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mask_flat 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7D30B-F77E-4227-A24C-8A13A2A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42190-CA80-41CC-9B1F-CFA27307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CE61D-1BED-4275-ADD0-EB0F539B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9092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rPr>
              <a:t>330 x 120 μm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0BAEA-44AF-4ED8-8306-B0414604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目标光斑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AA5D2-EC04-487C-B6DC-6061F2D4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052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50% full width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A28F0-7E4E-4CEA-930D-9FBDE064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76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DFDB7-3466-4B7B-A15B-DD63A9E0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766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047F8-368C-4AA1-968B-12FD3BDA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909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92.5%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E71EF-F80E-4119-93CC-8EA1433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05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e^-2 效率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347BB-AB82-401A-A6D8-2D7BFE3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05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13.5% 轮廓内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BBDB7-B984-49D2-B9C2-C63B81A4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09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2A999-F97A-45AC-8324-272F9432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09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B707D-73DC-4BF4-89EB-C1E1833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5791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核心管线</a:t>
            </a:r>
          </a:p>
          <a:p xmlns:a="http://schemas.openxmlformats.org/drawingml/2006/main">
            <a:pPr algn="l">
              <a:defRPr sz="15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phase0 -&gt; RTAD target -&gt; WGS refinement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0DB66-3A22-4731-AB8F-735898AB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Final source: rtad_mraf_gs_python/artifacts/20260605-144020_rtad_mraf_gs_truncI0135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13F2D-1C16-4B0F-8BF8-25C360D0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14227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57A9F-6623-4C91-8435-745A0091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DE592-EFB5-491D-838D-167FA488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1F4F9-44B5-43C5-B85A-A3E1B5A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2447A-6D02-466C-A5C0-EB1B4AA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B5321D0-D5DE-4C21-A669-31A5A91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E4D0C434-4382-44B7-BE43-DEF96BB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FC9DD-6382-4907-BCDF-00934DD0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难点不是画一个矩形，而是在衍射区把短轴也压平。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13191-7ADC-4915-910F-B9CA833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5DD1D-20B9-49A1-B117-D4AD7A3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16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532 nm 高斯光束经 SLM/DOE 后，在 f=429 mm 焦平面形成 330 x 120 μm 平顶矩形。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623E8-BCA2-4B62-B827-6BB745CB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B6602-E19B-4114-99A7-B2B36C2A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516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β_x=9.06 仍可借助物理初值；β_y=3.30 已进入衍射区，必须靠迭代反馈修正。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1A8B3-6BFD-43B5-A18E-AF76ADD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32B"/>
          </a:solidFill>
          <a:ln xmlns:a="http://schemas.openxmlformats.org/drawingml/2006/main" w="9525">
            <a:solidFill>
              <a:srgbClr val="2935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FF991-51D0-4A83-80C7-CBAD5D7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4F990-6686-4D9E-8C20-F65BA743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766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正式管线值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60B3B-93B0-46A0-AA20-D0756F9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935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B73B3-F36C-47E2-AC2F-1D8970C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波长 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429D6-1A7C-4883-92E8-F2183CC5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195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532 nm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5DC0D-3892-489E-8110-11D931BE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935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03ADC-0BFA-404A-857D-B1F2C496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入射光斑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8DB87-D0B8-4064-8CBD-84B434B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624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6 mm 1/e² 直径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97175-1622-4362-8C8B-5AE473DF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935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B2F34-8BA2-4D31-9DE6-51C3C926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通光孔径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8FE84-6FA3-4DE1-BE5A-94BE0C3D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053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15 mm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4A3B3-C7F6-4E48-9C2D-A948615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935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79FC4-A9EC-49CE-ABF5-17158042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计算网格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5825D-1D22-4618-A5DD-90E3B6E1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482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2048 x 2048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1A937-752D-4DAF-B24E-2C32B726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935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069BD4-2B22-4357-8B6B-7BD68A49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SLM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80E65-76E1-42FD-A13B-C4F7A243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911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1024 x 1024 @ 17 μm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37CA4-2978-4A91-9CB6-E0A137E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4c3f6dd8e401d"/>
          <a:stretch xmlns:a="http://schemas.openxmlformats.org/drawingml/2006/main"/>
        </p:blipFill>
        <p:spPr>
          <a:xfrm xmlns:a="http://schemas.openxmlformats.org/drawingml/2006/main">
            <a:off x="6934200" y="1909082"/>
            <a:ext cx="3276600" cy="2106386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815FC-7FCB-4985-A075-36227F1C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57675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initial reconstruction: physics start is close, not flat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E8327-107F-4097-9DAA-E5CB61F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039112-D660-4F34-BD0C-826882AD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6440B2-930C-46DF-A6B3-370D9D4A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β_y=3.30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B1A46-5510-40E9-9085-A42AECA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38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限制方向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8158AA-EAF1-4871-9CB1-1183288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387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WGS 改善最显著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56CEBC-DE88-4C40-A7E0-5FC23AB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D5E44C-47A0-41C6-A6FB-E0C53AB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35309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794B0-0C6B-4CD9-806D-2654B83B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961B7-3917-4410-AF57-6533793E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DB60D-6340-4812-8379-EF65A21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E0E85-44D9-45B0-BE87-A577F08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30624F5-3FFC-4E9E-8191-E40DEB93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CB1E0546-0F31-46F5-A6A2-9AFE53B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THEORY 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17F17-8D83-4194-911B-85542CE5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四篇论文不是背景知识，而是把约束一步步变成可解问题。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DBE31-E688-4753-A6BF-C4EF6B00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63D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31E93-3B20-4C06-B663-60907894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1C825-0CFE-4535-97BE-9182EF7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Romero-Dickey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稳相法初始相位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1996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B4DB4-7805-4236-BD27-3412B084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7F5EC-4824-4B3A-8DBE-217BDF23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9788D-0D50-4F0F-8538-585DDC5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Chen RTAD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升余弦目标边缘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D8EFF-2EEB-4661-A692-80F553F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8A03B-27CA-4B5C-977E-6F98091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19F38-B57C-4AA6-AF12-7F5360A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Zhang MRAF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自由区松弛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2016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6FE36-D4AB-440A-A36E-29D32D35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21239-CDD5-4D5C-8565-F34FD36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BD2B7-D50C-452C-BB76-1563DF4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Alsaka WGS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逐像素权重反馈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2022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B61EF-5A5C-4791-8276-C985A2DD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B62AD-8D93-48D8-AD15-2492C5FE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DA4FA-5BBB-43B4-B1FF-2C305C4E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62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5F34C-060D-4FDE-8777-298CD4A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5CB65-7468-48E5-B7D1-FC91363E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62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56891-1B82-48F8-AD57-87CC00A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94AA2-2B8B-41A8-B982-427F06E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8096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18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B9233-704F-4DD2-8EB9-760A6157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一句话：物理初值给方向，RTAD 抑制频谱泄露，MRAF 放开自由区，WGS 在平顶核心做局部均匀化。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47F60-E8E1-4D99-820B-52447E76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Sources: Romero &amp; Dickey 1996; Zhang et al. 2016; Alsaka et al. 2022; Chen et al.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B428E-9E37-4D39-83C6-A81FEEF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3710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DFC76-2AD3-46E7-ACD4-E6B995DE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A174B-9611-4AC9-B608-0D0B8EE9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A8671-F581-4FFD-8CE1-BD122657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1411A-5F32-4B68-A3E8-7163A30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A2F217AB-AE21-4B40-82FF-CEE6F1A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EEB22C04-2490-43F7-82EE-5572CA20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ROMERO-DICKEY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CA2F6-3BD9-40BB-97D0-87281507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解析相位给出物理起点，但 β_y 提醒我们它还不是终点。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9A72A-133D-4FF3-8A44-C78436CC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954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21cdcdad4414a"/>
          <a:stretch xmlns:a="http://schemas.openxmlformats.org/drawingml/2006/main"/>
        </p:blipFill>
        <p:spPr>
          <a:xfrm xmlns:a="http://schemas.openxmlformats.org/drawingml/2006/main">
            <a:off x="6981825" y="1535113"/>
            <a:ext cx="2990850" cy="2492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5215F-D9CA-4654-BC81-A81F9498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2876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phase0: separable Romero-Dickey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D238B-2A53-40C8-8BAA-D064A575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81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C"/>
          </a:solidFill>
          <a:ln xmlns:a="http://schemas.openxmlformats.org/drawingml/2006/main" w="9525">
            <a:solidFill>
              <a:srgbClr val="2D36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A0103-5FAA-40CF-92F7-21B1B42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50387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φ(xi) = β [ xi·√π/2·erf(xi) + 1/2·exp(-xi²) - 1/2 ]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β = 2π·r_i·R_o / (λ·f)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φ(x,y) = φ_x(x) + φ_y(y)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EFA64-8F34-4338-AA9E-DE2102C0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D5918-E1A2-437D-A92D-4A85406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F07BE-0672-4B73-9B80-B261FBD0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rPr>
              <a:t>β_x=9.06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1779C-A639-4B21-836E-2D30793E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长轴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13E8C-029D-45FA-8962-97AEDE0A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接近过渡区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743E1-33E4-4DB1-BDA2-A777B5D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B935C-34E2-4C2B-BB62-376B28CF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152CB-4127-4DBB-A3EE-17032DC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5292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β_y=3.30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E7189-12B9-4534-98CF-96B6FB3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短轴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FC553-22C8-417A-B1F1-761A667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67275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衍射限制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263C3-7D55-4C8E-880A-01F4EAB5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950A9-780E-45E1-9DDE-681FBD72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601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因此 phase0 是热启动，不是最终 DOE。后续算法的任务是修正衍射区残留波纹。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3E82E-1251-48FE-8453-0443E126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7BC74-C26A-4EEC-8D76-0E16A53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6754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3DD7A6-CFB1-4622-B36E-366F940B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B17B-CCAA-4A7E-94FC-DED0469D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E40AA-DBD5-41BF-AD96-237DB2A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373E9-CB2D-4600-AA35-74618EAC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B4546BA-13C7-4F16-B851-54F5BAE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6ACF732-904E-49C3-8219-FC051B84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RTAD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5DC7-2A64-447E-A8B3-12E2E1F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把硬边矩形换成升余弦下降边缘，目标本身就更可优化。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D3211-A7CE-4A79-BAE0-E3DDC953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714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8093b6fd34685"/>
          <a:stretch xmlns:a="http://schemas.openxmlformats.org/drawingml/2006/main"/>
        </p:blipFill>
        <p:spPr>
          <a:xfrm xmlns:a="http://schemas.openxmlformats.org/drawingml/2006/main">
            <a:off x="742950" y="1912484"/>
            <a:ext cx="3562350" cy="229008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126B8-0FA6-48E6-84AA-9268D37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RTAD target intensity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770F1-1722-4AF9-A41C-C694FEE6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4381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39ede43474b7d"/>
          <a:stretch xmlns:a="http://schemas.openxmlformats.org/drawingml/2006/main"/>
        </p:blipFill>
        <p:spPr>
          <a:xfrm xmlns:a="http://schemas.openxmlformats.org/drawingml/2006/main">
            <a:off x="4838700" y="2288598"/>
            <a:ext cx="4229100" cy="153785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EF1CF-933E-4904-8E66-75C3C41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48175"/>
            <a:ext cx="411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target edge 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FD346-E145-46CC-97E4-81E52D57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1238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1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2D39D-9DCB-45D3-86AF-D415A8C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05000"/>
            <a:ext cx="971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截断 RTAD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只约束 I &gt;= exp(-2) ≈ 13.5%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低强度尾迹释放到自由区，避免 DOE 追逐数学尾巴。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784AA-34E7-49C7-B4E3-9795970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CBE19-B7FF-476F-9F77-5E5EB90A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56316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B052D-148F-48C8-878A-F8D41A31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C59A1-8BD8-4E95-812E-418A173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274A7-DF17-48E5-B596-247CF26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18EBB-AB92-48BC-9D99-998359E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D9F8E54A-30FC-4D53-92A5-3B1A5FC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D1D421F-BE33-4497-A5BC-71F443B6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MRAF REGIONS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CF972-3CAA-4049-AA0D-12B396C6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区域划分让平顶区受约束，自由区保留光场。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89C6C-29C5-43D7-8BEF-F7A79AB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333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f8bb16e944926"/>
          <a:stretch xmlns:a="http://schemas.openxmlformats.org/drawingml/2006/main"/>
        </p:blipFill>
        <p:spPr>
          <a:xfrm xmlns:a="http://schemas.openxmlformats.org/drawingml/2006/main">
            <a:off x="742950" y="1856354"/>
            <a:ext cx="4181475" cy="268809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685F3-8F3C-4263-8455-5EA729D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067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flat / signal / free / background masks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F4FA8-E332-48C7-A706-9346C81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383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C"/>
          </a:solidFill>
          <a:ln xmlns:a="http://schemas.openxmlformats.org/drawingml/2006/main" w="9525">
            <a:solidFill>
              <a:srgbClr val="2D36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44EFE-4BE3-465D-99F0-610E9BB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90700"/>
            <a:ext cx="3752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signal:  E' = A_target · exp(i·arg(E))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free:    E' = mraf_factor · E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bg_far:  E' = bg_factor · 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mraf_factor = 0.8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bg_factor ≈ 0.9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AE21A-2D89-48C2-95D9-B816AFD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DCF23-FFE9-4432-8336-4EF6FC0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62D0F-C662-45B0-AB49-8AE54D46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67150"/>
            <a:ext cx="37909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关键转变</a:t>
            </a:r>
          </a:p>
          <a:p xmlns:a="http://schemas.openxmlformats.org/drawingml/2006/main">
            <a:pPr algn="l">
              <a:def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信号区外不是“归零垃圾桶”，而是允许算法安排能量的自由区。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5D2DA-FA72-454B-BD34-BFBF045F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0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05137-79A7-460E-85FA-C372F2D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43500"/>
            <a:ext cx="411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强迫背景过低会牵制平台；接近不管背景时，平台更平。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04E24-D2AD-47BB-B121-6B385E4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40F94-E990-43B5-B57A-FC997C8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6423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8F8F8-BADE-465F-89AC-90702A23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C2F4-289A-441E-BF1A-626A0DE9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73812-C919-4B8C-8065-5E2EC47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75B06-D4DD-4D4A-B3C9-60026B63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270418CB-74F6-485F-A24A-848620A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A1F3B0A-080B-4198-85C3-819ECE33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WGS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21E1C-D8C6-49B5-AE2C-BA5E355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WGS 局部调平：暗区增权，亮区降权。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62B51-0481-475D-A4E3-BE34439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d0b037dfa4a3f"/>
          <a:stretch xmlns:a="http://schemas.openxmlformats.org/drawingml/2006/main"/>
        </p:blipFill>
        <p:spPr>
          <a:xfrm xmlns:a="http://schemas.openxmlformats.org/drawingml/2006/main">
            <a:off x="742950" y="1892073"/>
            <a:ext cx="3181350" cy="204515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A0186-DA2A-4086-8605-E0906B8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final WGS 2D weights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743FA-028C-4A7D-95F7-769CA6A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76375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a7d49f59a4781"/>
          <a:stretch xmlns:a="http://schemas.openxmlformats.org/drawingml/2006/main"/>
        </p:blipFill>
        <p:spPr>
          <a:xfrm xmlns:a="http://schemas.openxmlformats.org/drawingml/2006/main">
            <a:off x="4410075" y="1949450"/>
            <a:ext cx="2895600" cy="1930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1AD82-C1FF-4545-A8DD-D220A53A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05300"/>
            <a:ext cx="2781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weight histogram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B1341-5B81-4FF8-8876-03502013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63D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BB215-2B10-42C9-A464-A1C980A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BEFF5-6CE8-460E-A00A-E28FA6E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mean(|E_flat|) / |E|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1AA96-9210-4C76-BAC2-DA40BF1E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B0D41-8192-4291-AE7E-C0778DD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E7D22-8640-4708-B984-372F5903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C395E-CD87-4EFD-A9CA-0EC005B1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8F1E3-9244-4F89-A1BB-E1C566C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clip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[0.5, 2.0]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99F0B-4937-48B6-9633-64C8DA0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37CEA-F7F1-4D8C-968D-EBADB5A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BF979-DB91-485C-BB71-B3DA8349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8F89C-29C0-4915-A313-CA28A3C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40223E-607B-4E46-A313-1D85266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normalize</a:t>
            </a:r>
          </a:p>
          <a:p xmlns:a="http://schemas.openxmlformats.org/drawingml/2006/main">
            <a:pPr algn="l">
              <a:def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mean=1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45BDE-50E3-424E-B755-0A53C844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只在 mask_flat 内更新；边缘、自由区、背景权重保持 1。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BBA3E-79D4-4E61-96DC-1B2B9B0D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0271C-FB6F-4126-8397-333EF7C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68736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3636C-67A9-4B2C-A482-F51598C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1D5D3-E743-4ADA-8B7F-28EDB1E8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E764D-AC40-4F68-97FA-1B5FB8D6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8CAF6-1315-421A-8CF1-380D8D1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F0DF6519-95B3-4D50-90A8-812FC7BF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773D6224-52CA-45F5-B78F-E993B2D4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B22FD-9029-4A18-B9D4-F61D8E38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完整管线减少了 DOE 必须硬扛的约束。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33D2A-8AFC-4F1B-B40F-C8BAB4A9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464d2f59d48ff"/>
          <a:stretch xmlns:a="http://schemas.openxmlformats.org/drawingml/2006/main"/>
        </p:blipFill>
        <p:spPr>
          <a:xfrm xmlns:a="http://schemas.openxmlformats.org/drawingml/2006/main">
            <a:off x="742950" y="1677988"/>
            <a:ext cx="2990850" cy="2492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7AF34-49E0-46CD-BE50-449D6CE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2876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phase0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BF08F-288B-4250-942C-60DAC892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811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ad6e2d8fc4649"/>
          <a:stretch xmlns:a="http://schemas.openxmlformats.org/drawingml/2006/main"/>
        </p:blipFill>
        <p:spPr>
          <a:xfrm xmlns:a="http://schemas.openxmlformats.org/drawingml/2006/main">
            <a:off x="7362825" y="1677988"/>
            <a:ext cx="2990850" cy="24923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3E4BA-DE9A-4F69-9272-6D7D6596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19575"/>
            <a:ext cx="2876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phase refined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B1A8D-9436-4724-9075-A36EDC60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63D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86425-B238-40EF-9932-E81D2D86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663F1-34F4-49A6-AC69-8FCB38D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76525"/>
            <a:ext cx="695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物理初值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88BF7-C8C1-4E00-9759-742A14C5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DA73D-D1E1-40B7-82D4-5730AC7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A5057-A6D2-4DFA-BBEE-ACE2B40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7625D-C238-4FC7-A9D2-1C60BDD3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37F6F-3223-474F-B2B8-5825CB0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76525"/>
            <a:ext cx="695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平滑目标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0348D-2422-4913-9773-2D791DE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765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DF6FB-C50F-4921-BC8E-41DA5577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62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73DAF-E91F-4F27-A13D-B7669E5E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BCA594-E161-4ECE-9943-2904FF03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3A0C6-E171-4CC6-9474-12CFBB1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76525"/>
            <a:ext cx="695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自由区松弛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998AE-5467-4FBB-A1CB-2ED2B72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2BFBB-BAF5-466C-A98B-0C7BC6AC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62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3C6AA-C5D9-4D78-86F9-9F24984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3156F-6B0E-4DFF-AEE8-77E9EBD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63729-3F3F-42BD-BEF2-B11B98D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76525"/>
            <a:ext cx="695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局部反馈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E4E6B-B95E-49FD-842B-B923DC4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E823F-FE04-45C0-8771-BB9A26C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320C50-9F80-443C-B210-0036074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4817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&gt;10% -&gt; 1.86%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16337C-2E9E-41B7-BA7E-0B3712E4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RMS 收敛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085FE6-CB2D-4EDB-8D87-7E3D945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62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四者叠加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7360E2-B1AC-4E91-8FE4-EF4DA0D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278EB-2967-4BA0-A2FC-83748D0A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13076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112931-7584-4F09-8515-D259977E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2AFB-3759-463E-8D68-7BB7C52E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510CA-71B5-476E-AB9B-7415BEC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DBD57-9A17-4236-BA05-3B9FDFB2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1FD82016-10CA-4A77-B6DD-8B306A2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94A6D75-2607-4B13-9470-C60FD35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PARAMETER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3D556-F1DD-4D4D-8A30-C4331C74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11 轮扫参说明：背景自由是最大变量。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D96A4-73B7-425C-9962-52C46A7D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D0368-B7CE-47DF-87F4-5DB43334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668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D048B-1280-49E9-8275-84CB358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weight_max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CDB6A-AA43-4DF3-B603-B4C7CB03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&gt;=1.5 后差别不大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F343E-3E8C-4CDF-9DDB-C779A7B0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252F5-B024-4BE9-AD64-9DB78772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E4CAD-206D-4F29-BE9C-9344289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weight_min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2FD78-C4E3-4DE4-8115-4A6D99C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对 y 几乎无影响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5CFC5-8B8A-4045-AE22-A980A8BB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D32BA-E620-48A4-B288-03B33E70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F7EB7-2D8F-4116-823C-568007F9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iters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D4903-F7DC-4DA1-AF44-3F78766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200 次足够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A18A1-4F9C-41A7-8401-9446757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E6130-100D-4AEE-AEF9-13307AC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C75C1-629C-4449-B4C1-A100470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feedback exp.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BD6DF-294B-4064-8CB9-1129C61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385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0.6-0.7 后饱和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CD3B9-86E3-4BE2-8955-21C6C541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07866-354D-4283-99D9-A8D00C1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6BB61-B04E-42B0-AD9C-E87D9B6B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mraf_factor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20E5E-7E2D-42DF-B126-E3F89F5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62375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1.2 过度放开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9B8D8-1222-4CFD-9088-FAE6B1B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11745-D2FA-4BDA-A5E4-08F21386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3A499-A475-4524-B271-FC689CC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release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44A37-6D58-400E-A00C-7CB48D2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影响不大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4D260-FACB-483D-A9CE-210229F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D1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23BF5-78E1-48A7-AEAC-99CA9DD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D49A0C-91CE-4DD9-8AD0-B6985169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01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bg_factor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CB70C9-A2BB-4C52-8B91-8D9698ED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最大单项改进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F37637-255E-40DA-9B14-97C1536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842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A9B3B4-505A-48F2-B7C9-2BEFCA81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8-11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09D63C-E162-485D-ACF3-2D87E3E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nobg rescan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63A1ED-7234-48F8-B997-8EF9568F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微调最终基线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B35FD3-CCC5-4074-BD3D-819D43D5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F01F87-F0A2-467E-9585-AA86E2C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58770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DAEECE-6746-4C83-9334-5A1ADA93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7105-DC2C-4E5D-B576-1FC5B960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E88A6-639A-4C17-BAEE-8E34E58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F1026-E9BA-4329-833A-D9EEA21B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893AB4B-8F3C-497C-8732-37F95486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64C7E24-DF6A-48F5-9BF2-9A3AD06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FINAL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53C36-0F8F-453D-9FC6-0523F0F5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最终基线：直接 WGS，flat_local，200 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5AE41-C2CF-4EDB-AFB0-791AE58E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762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C"/>
          </a:solidFill>
          <a:ln xmlns:a="http://schemas.openxmlformats.org/drawingml/2006/main" w="9525">
            <a:solidFill>
              <a:srgbClr val="2D36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C2214-0F68-45A4-958B-9E2ABF7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341947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method: wgs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strategy: flat_local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iters: 200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feedback_exponent: 0.8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weight range: [0.5, 2.0]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mraf_factor: 0.8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bg_factor: 0.9</a:t>
            </a:r>
          </a:p>
          <a:p xmlns:a="http://schemas.openxmlformats.org/drawingml/2006/main">
            <a:pPr algn="l">
              <a:defRPr sz="1125" b="0">
                <a:solidFill>
                  <a:srgbClr val="D6E8D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6E8DC"/>
                </a:solidFill>
                <a:latin typeface="Consolas"/>
                <a:ea typeface="Consolas"/>
                <a:cs typeface="Consolas"/>
              </a:rPr>
              <a:t>release_level: 0.135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A17E6-9F6D-40C7-B00F-2E42F48F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9ebbbc225458b"/>
          <a:stretch xmlns:a="http://schemas.openxmlformats.org/drawingml/2006/main"/>
        </p:blipFill>
        <p:spPr>
          <a:xfrm xmlns:a="http://schemas.openxmlformats.org/drawingml/2006/main">
            <a:off x="5029200" y="1787525"/>
            <a:ext cx="3467100" cy="23114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114F2-8B9D-4AB0-98B9-C2D03351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38625"/>
            <a:ext cx="3352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weight distribution under final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3E1F5-B05A-44FA-B95F-F84E3537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C5451-FD80-4F80-8611-F6BA7ED2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6FA5F-FDF6-43DC-9909-738A06D8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rPr>
              <a:t>GPU ~3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0627D-E243-4389-B8E0-DFFD8D0C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200 iterations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3E054-F08E-46EA-BFFB-9123B787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2048 x 2048 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DAF42-47C0-47FA-BD31-0B27AC1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AF1D0-8C98-42CC-A6FF-516101D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F8A86-659C-45BE-B513-6870010B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flat_local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7B32B-266F-4095-AA38-24834E85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81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2D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B7D54-3369-4B1F-922C-1ECD387D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X/Y 同时作用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7A161-898A-4EB0-9F69-85B84B1C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910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FDC37-215F-40C0-8D94-9E86516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91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F34F1-290E-4DA9-98C5-D204FA8C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no preheat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BCEC7-CE7D-44F5-9690-7604AC9B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96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直接 WGS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0D426-F8B8-4B02-AAE1-099FCEE0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9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MRAF 预热被放弃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FF8F8-5B43-48BA-A878-DAFF1FE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420C30-19B8-4522-B8CE-0101B44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30816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EC069-16E1-4840-A17F-B441CCE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BCE9C-2BCA-4826-9DD2-9F88823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A74C3-080C-4922-AEB0-ABB36FD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19719-0727-4773-B3DB-21E96D1A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7C60C6F0-772F-4B5F-9555-FAC71C40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C96E841-766F-4067-BE74-1B1F662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BEFORE / 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BF87B-58DD-404E-9A71-2E0326C8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从粗糙热启动到高均匀矩形平顶，变化肉眼可见。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5DFB5-C971-40C1-9C65-A38F76F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000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675cdbe864d2f"/>
          <a:stretch xmlns:a="http://schemas.openxmlformats.org/drawingml/2006/main"/>
        </p:blipFill>
        <p:spPr>
          <a:xfrm xmlns:a="http://schemas.openxmlformats.org/drawingml/2006/main">
            <a:off x="838200" y="1868261"/>
            <a:ext cx="3848100" cy="247377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63E13-C2E1-4305-82A5-BCA805E2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373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initial reconstruction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6CC50-ECBE-4153-88BB-A811859D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00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2e41751bd4e1e"/>
          <a:stretch xmlns:a="http://schemas.openxmlformats.org/drawingml/2006/main"/>
        </p:blipFill>
        <p:spPr>
          <a:xfrm xmlns:a="http://schemas.openxmlformats.org/drawingml/2006/main">
            <a:off x="6553200" y="1868261"/>
            <a:ext cx="3848100" cy="2473779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DC2A5-E46A-44EB-B590-2331DB4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373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refined reconstruction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744BB-BC60-4F2A-9E92-34E73D66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WGS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57C4A-CE6C-4D43-94E9-B11532E7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3CAF8-E3EB-451A-9D5C-9CF00484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5ABC6-48F0-4F69-B83B-0F27C132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482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448FF-6C84-4712-BF39-E13255A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48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03851-D2C7-4CA9-A3B8-2993C40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62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1.86%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8EBE8-3E24-4DDB-A55E-D7366490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768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最终 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943DA-9834-490C-ACED-13B27DF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76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summary validated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EDF7-36A9-4629-8A68-5048E0F7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9DFD9-8613-4142-A85F-F231FAAE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95091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AB8226-800E-4AB7-B6FF-51110FE1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48B6C-1D40-410A-8464-21A08F7D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ED794-26D0-4EB1-B16F-9D20B959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DB7FA-2DAC-4B70-8862-9D017479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1BB94C44-CC35-4D1E-A99C-B275623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30A36533-E145-40E1-999A-7F1DF9E7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PROFILE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17F36-D9FF-4432-A5C6-86E20563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剖面验证：尺寸命中，平台波纹被压低。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73C4D-9C96-44B4-907C-FFF9E4F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239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25e22375e4336"/>
          <a:stretch xmlns:a="http://schemas.openxmlformats.org/drawingml/2006/main"/>
        </p:blipFill>
        <p:spPr>
          <a:xfrm xmlns:a="http://schemas.openxmlformats.org/drawingml/2006/main">
            <a:off x="838200" y="2154815"/>
            <a:ext cx="7086600" cy="257694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13723-B7F1-4DAC-867A-CE726CF5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697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center profiles 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FBCD9-49CE-4383-A7BD-63C18947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7DCE9-7092-4740-96D4-6F0C9FC3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175B1-1FE5-4CFF-9A10-0393C463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rPr>
              <a:t>330.2 μm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9CEBF-BBC3-47F7-B50A-0A0A02D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size50_x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2A108-93F2-44D9-A091-E2EA04B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target 330 μm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C0B60-715F-4ECE-8D21-E432893F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A9A38-4857-4585-ABFE-FB9B9D9B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ABCC9-9F0D-48F4-8C38-46704E7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123.6 μm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7306C-FC91-4684-ADDD-96E3097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size50_y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F87CF-6D1C-4F44-BC1E-10703DB8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337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target 120 μm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B9C71-7125-471A-9136-39DDB9AC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E9ACF-F5D9-41A9-89FE-FDACE9B7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B2107-9E0B-4CEA-A864-A5C495E1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20 μm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82F3E-368E-497C-AFD5-00C6FCE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4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edge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2DD7F-AAC3-4FCE-92CA-69F855B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24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13.5% -&gt; 90%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9E35D-EB07-481A-B8A5-47672EF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A6D5B-37BC-48E1-BEF5-1A93004A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10688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7F7AB-A433-4F07-80E4-7BFC9CC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03BE4-A335-4745-813A-09C903E3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D0944-400C-410D-9D17-57F5F6B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4F078-285A-460D-A43A-0AD9312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30CA62FB-F44A-43F2-8716-A707C272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0EC1416D-F21A-41B9-B951-2DF95D7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CONVERGENCE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C23DF-7A31-4888-A31F-3971C550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收敛曲线显示：200 轮已进入稳定区。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D4980-B47A-4B5A-8402-C48934C3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239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c958108f5433f"/>
          <a:stretch xmlns:a="http://schemas.openxmlformats.org/drawingml/2006/main"/>
        </p:blipFill>
        <p:spPr>
          <a:xfrm xmlns:a="http://schemas.openxmlformats.org/drawingml/2006/main">
            <a:off x="1585232" y="1504950"/>
            <a:ext cx="5592536" cy="39147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326A6-8DD2-45DE-BBE1-76FAB2F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697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convergence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E16EC-8919-47CA-B1FC-8D9C7C6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24F4A-ACAC-45D8-B135-BB1D7D0E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WGS 权重更新会先打破初始局部平衡，之后逐步回落。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FEC17-A1C8-4813-8A31-8A75BF7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3D649-758D-4B94-A7B8-1A186A2E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384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100 轮后改进变小；200 轮作为稳定工作点。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031C8-26BF-467F-9CC8-A41F836F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3EC85-438E-438F-89F0-45058FA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诊断指标只做后处理，不反向作为约束。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9B92C-8780-4F37-A51B-411770C3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554B5-2251-4149-BEA6-40E7701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405154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486B5-0910-4A9F-A92F-E1BADB1F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0214-D326-4D7A-881E-13C1F823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346FF-E732-421E-82C9-A6430DC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7B174-4854-4E79-A2F1-811A3FC9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86734151-C883-4476-B1EB-FE64C2E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9EB495D4-97F3-4284-9418-4E230B5B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DOE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FC008-FC89-4D5F-877F-80D0364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精修相位保留清晰物理结构。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1299B-F403-421C-B9E9-0BA6E65B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81125"/>
            <a:ext cx="7239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08d358bdf4734"/>
          <a:stretch xmlns:a="http://schemas.openxmlformats.org/drawingml/2006/main"/>
        </p:blipFill>
        <p:spPr>
          <a:xfrm xmlns:a="http://schemas.openxmlformats.org/drawingml/2006/main">
            <a:off x="2804160" y="1457325"/>
            <a:ext cx="4869180" cy="4057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BDB98-81FB-4242-BC42-4B8B4AE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697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final refined DOE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479CB-D118-40FA-8F0B-F174AEF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133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17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8DBD3-57CF-4234-BEF1-D847D15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0096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这点很关键：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实验 WGS 需要仿真相位热启动，不能从随机相位直接进入反馈。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C2E0D-409A-4AE0-AD34-28E0CEFD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74B88-0FD5-42B3-9220-90757E8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77267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A2D6A-B4AB-4EDF-A87D-77912E6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70ED4-74B1-4FE4-93EA-F810ECD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DAD77-98B0-468D-ACA6-818D6AEC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57BA3-5929-4EFF-9FA4-550374C5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C633200B-1B86-4AF5-B15D-9E27226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FFE417D5-3692-4FC1-B015-83A8B6CA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LESSONS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A6C65-FED2-44AD-966F-5AFD34FE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三个反直觉发现，真正改变了最终结果。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E5B2-02A4-46A9-AD52-DB84810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D1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C1D3A-377D-4576-BB81-4F46A45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195D1-88F8-4C31-BC8D-3F4A466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不要强压背景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648FD-817E-4273-92C3-CB30DBFA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bg_factor 接近 1 时平台更平；早期强压背景反而拖累均匀性。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EA964-B539-4A6B-AB4A-356ECEF2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79B56-2738-485C-A818-AE631871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1054B-05C9-497F-B2B0-D990421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不用 MRAF 预热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EEED8-4E68-4990-9F40-9A9DEF65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直接 flat_local WGS 优于两段式 MRAF -&gt; WGS。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5B3CA-2BEF-4AC2-91A8-4B51361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63D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6E0A2-2485-4879-957D-F5D383A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4787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C451E-998E-4CEE-A0B0-53E61E0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193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不用 X-only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5D7AB-23EB-4209-86C8-B28E73CA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2266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2D 局部反馈已足够；X-only 会过早冻结 Y 方向。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CABEE-2E88-45E1-8A6D-F9CA19A5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C0B64-6006-4A9B-AC44-A1A4BFC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72294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B8702-D678-4B0B-88D2-E4D5ACB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2C932-4452-45BA-851E-1BDBD6C0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791C0-8113-4732-8731-74B9856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D807A-9815-47D2-9F04-8C1042D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79E7735E-3990-4A19-8AB4-7DA4B2F0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D865EED7-0AE3-4FF4-93E7-FE06515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ENGINEERING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34155-3062-4EDC-A567-DAA12BF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真正能落地的 DOE 设计，卡在几个工程细节上。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9E8F5-0E96-47FC-8F9C-5B9FA20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83141-C353-473A-853A-29A88BD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2376E-AF23-44A0-A41E-78A080A5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复振幅插值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A4AF9-9780-4DB9-9DC5-381B6A4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192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D38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0BEDD-E394-4FA9-8593-98F95DE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SLM 转换要插值 exp(iφ)，不能直接插值包裹相位。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CFE5A-8C00-4B09-A01A-54F7F7C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63D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F6696-4197-48B6-B2C1-15C4F981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5A760-C350-4AF1-A756-280B712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仿真热启动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D8937-0C1A-40D3-B43C-0A0D6E1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19375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D38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135A9-576F-424C-BAAE-C742D280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987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实验反馈必须从仿真 WGS 结果开始，随机相位拍不到平顶。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AF43B-DB91-471F-AD74-5E7ED80A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2D7DF-C89E-4EA8-B61D-17E21E2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2375F-6E0A-4D8E-A151-5E2FC9F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诊断分离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A9B39-DA47-4170-8ED2-502C6552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195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D38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B158F-DE52-4751-B8F4-75BC518C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100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RMS、size50、效率是后处理指标，不参与迭代约束。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0A745-6E3B-4161-B3AC-FA499153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36346-7F0C-4105-A335-59A4891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ED4B4-DC61-41CA-BDF7-2BCA514D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梯度边缘法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6E8F9-EEA8-44AF-B399-BF7BF91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9625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2D38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C9CE7-25DE-40D9-87C6-834D78D3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实验图像分析用边缘定位，避免 hotspot 抬高 flat-level。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69768-5502-4B86-931E-05C8FE19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766FC-8A56-4D01-AE37-250915A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162090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D942A-C704-4266-8A1F-E9634A8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A1C4E-1807-4C1A-ABC2-1C19973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C562-4BA7-494B-8516-A1572B8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5EA81-8721-4239-B652-485BE76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19FA7686-EB52-45E0-A33C-698FDEE9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472B490A-A24B-4E57-A9BE-D00E92D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TRANSFERABLE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72A52-D838-4DA3-BE74-FB25B8C7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可迁移模式：先物理，再释放，再反馈。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571DD-364A-4FA8-809F-88CD5A76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63D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2AAEF-0CDC-457F-9998-89ECD9A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62496-1AAD-4345-B1F1-54438CCD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6954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1. 物理初值</a:t>
            </a:r>
          </a:p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用解析相位建立可收敛起点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25814-37C0-4CA9-A72C-526D612E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AC409-3C3E-4275-9B32-27824CDE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07BA7-9E49-4F57-BFE3-776F9393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16954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2. 可优化目标</a:t>
            </a:r>
          </a:p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把硬边目标改为平滑约束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30B50-AFA1-48B2-9EEA-3E0520C6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B36D0-C089-4CCD-9F06-7490509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D7F15-61FC-48CC-BE3D-4541A4C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38400"/>
            <a:ext cx="16954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3. 区域自由度</a:t>
            </a:r>
          </a:p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把低价值约束释放出去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17716-2452-4222-97A5-5B757038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78A53-C664-490D-8380-2DC6C2D3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401AF-69CF-43D6-8909-522F40F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38400"/>
            <a:ext cx="16954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4. 局部反馈</a:t>
            </a:r>
          </a:p>
          <a:p xmlns:a="http://schemas.openxmlformats.org/drawingml/2006/main">
            <a:pPr algn="l">
              <a:def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只在核心指标区自适应匀化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6CEE6-0F8B-40D1-A149-268EA92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71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129E8-F763-426F-B071-A8990313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75CD2-D7D5-4216-8620-6DDC0A0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B2DE8-F37F-453D-AEC4-3DAE7130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61A5D-F00D-4BA1-A6D9-2846F1A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4A231-EDF4-46BD-9D09-65B5301B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423D"/>
                </a:solidFill>
                <a:latin typeface="Microsoft YaHei UI"/>
                <a:ea typeface="Microsoft YaHei UI"/>
                <a:cs typeface="Microsoft YaHei U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EFFBC-79A3-46B5-A88F-AC7DBF4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800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18"/>
          </a:solidFill>
          <a:ln xmlns:a="http://schemas.openxmlformats.org/drawingml/2006/main" w="9525">
            <a:solidFill>
              <a:srgbClr val="00E67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8AD83-979B-4671-860B-4E7C6D8C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8157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方法论：不要让优化器替你猜物理；先把问题重写成它能解决的形式。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F0942-0366-4CBC-A32D-55DE732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Source: Point2P_Complete_Summary.md + final artifact 20260605-144020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D1051-0508-407D-B64F-40155B14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40406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22FFC7-5F0D-41E7-A8E9-A86F2DD3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CB060-09A1-4BDE-8198-4D60C4F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6053C-1E77-4478-88C5-A626BA7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E4B38-F980-43C6-9079-8897CBF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883F4-0BDD-46C4-895F-9D80AC7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Thanks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AC012-B7C8-41C6-8C78-E5D6F15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6572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从一个物理起点出发，四篇论文协同，最终得到 RMS 1.86% 的矩形平顶光斑。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13D6E-8B37-4DDF-9D51-06F6BD6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0487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2E3A3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8a41fea8347f7"/>
          <a:stretch xmlns:a="http://schemas.openxmlformats.org/drawingml/2006/main"/>
        </p:blipFill>
        <p:spPr>
          <a:xfrm xmlns:a="http://schemas.openxmlformats.org/drawingml/2006/main">
            <a:off x="7411508" y="981075"/>
            <a:ext cx="3274483" cy="21050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C2A-B059-41EB-86A7-509045CE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14675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E4742"/>
                </a:solidFill>
                <a:latin typeface="Microsoft YaHei UI"/>
                <a:ea typeface="Microsoft YaHei UI"/>
                <a:cs typeface="Microsoft YaHei UI"/>
              </a:rPr>
              <a:t>final reconstruction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5E47E-4F8C-4AC6-8991-7B64FA8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3F93A-A6BE-4053-A1A0-9027066A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0E55D-24AE-42FD-B5C2-B7E933F1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D2FF"/>
                </a:solidFill>
                <a:latin typeface="Microsoft YaHei UI"/>
                <a:ea typeface="Microsoft YaHei UI"/>
                <a:cs typeface="Microsoft YaHei UI"/>
              </a:rPr>
              <a:t>phase0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59652-45DC-4AD2-812E-2B4F699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Romero-Dickey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12A01-10EA-492A-AA95-B0ADC76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physics 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797D8-3859-4525-92AD-F6881BE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BD7D2-44A3-497D-8B0D-B744A4D0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CB266-5C35-4628-A389-FCCF0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33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RTAD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4E6F1-0BFF-420D-A971-1118EB9E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48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smooth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63910-DD08-45B8-BDE3-90C42896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13.5% truncated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9F619-195E-4393-8777-5C898397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3C989-4F49-417E-ADD0-EF286587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74B9A-844F-48D2-94FE-C78D5B0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MRAF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AE90E-2F5C-41FA-A43E-F0153D4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48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free region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D3FD2-3E66-4167-A890-F8B19126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relaxed constraints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4E47B-CC00-40DF-8EEB-B2EB790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22"/>
          </a:solidFill>
          <a:ln xmlns:a="http://schemas.openxmlformats.org/drawingml/2006/main" w="9525">
            <a:solidFill>
              <a:srgbClr val="2B38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80E0B-2F2B-48FF-8E3A-B80DEE4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06CE4-CBC4-4615-BF52-CAA8950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33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0E676"/>
                </a:solidFill>
                <a:latin typeface="Microsoft YaHei UI"/>
                <a:ea typeface="Microsoft YaHei UI"/>
                <a:cs typeface="Microsoft YaHei UI"/>
              </a:rPr>
              <a:t>WGS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ABD98-C378-4167-815B-F6E97504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48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2F5F1"/>
                </a:solidFill>
                <a:latin typeface="Microsoft YaHei UI"/>
                <a:ea typeface="Microsoft YaHei UI"/>
                <a:cs typeface="Microsoft YaHei UI"/>
              </a:rPr>
              <a:t>flat_local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7E117-6FF1-43E6-8E31-18DA7F7D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local equalizer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A2BB1-CF5B-491D-B53D-196BF96E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Final artifact: 20260605-144020_rtad_mraf_gs_truncI0135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7DBED-D06B-4292-B655-1AB33D2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48079"/>
                </a:solidFill>
                <a:latin typeface="Microsoft YaHei UI"/>
                <a:ea typeface="Microsoft YaHei UI"/>
                <a:cs typeface="Microsoft YaHei UI"/>
              </a:rPr>
              <a:t>Point2P DOE rectangular flat-top beam shaping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23BE9-8311-4955-9165-0AF48AE1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AAB3AD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95121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2026-06-08T08:46:21.6850000Z</dcterms:created>
  <dcterms:modified xsi:type="dcterms:W3CDTF">2026-06-08T08:46:21.6850000Z</dcterms:modified>
</coreProperties>
</file>