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789C999-88EE-424D-A348-7F674548EB50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矩形平顶 DOE 光束整形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1A997C-BDC9-4091-97A6-FC9F6F1828EB}"/>
              </a:ext>
            </a:extLst>
          </p:cNvPr>
          <p:cNvSpPr>
            <a:spLocks noGrp="1"/>
          </p:cNvSpPr>
          <p:nvPr/>
        </p:nvSpPr>
        <p:spPr>
          <a:xfrm>
            <a:off x="1428750" y="3314700"/>
            <a:ext cx="628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从解析初始相位到迭代优化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4313B-D808-4DB8-880D-47C4FA1E358F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组会汇报 · Point2P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A0D40-AD1F-4761-B96D-7B3F7C9A189E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2026 年 6 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686907-231D-49D8-9055-78BF7D9EFB09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300948-3FBA-45AB-AD4A-712D0928464F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993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BA5701B-9689-4BB8-BD45-978B7E0F41C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8B49D5-0A91-4059-863D-B8D39B178991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把输入高斯光束整形成焦平面上的矩形平顶光斑。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59BA3A-F05D-45F6-94EC-7418300AFFD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ABF9C0-C1C2-4F26-808E-5D09411C7E17}"/>
              </a:ext>
            </a:extLst>
          </p:cNvPr>
          <p:cNvSpPr>
            <a:spLocks noGrp="1"/>
          </p:cNvSpPr>
          <p:nvPr/>
        </p:nvSpPr>
        <p:spPr>
          <a:xfrm>
            <a:off x="666750" y="235267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A5573-9894-4384-A8DE-6C2CA49FD97C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459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输入：532 nm 高斯激光，经 SLM / DOE 调制后进入傅里叶透镜。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E34BC2-9166-49D7-A333-77FC1B3AFA18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DB2031-D0AD-4486-83DA-1EF056C6C6CF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459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目标：焦平面 50% 全宽约 330 × 120 μm 的矩形平顶。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BFA82D-58FC-45D7-979D-9C6298B29CE4}"/>
              </a:ext>
            </a:extLst>
          </p:cNvPr>
          <p:cNvSpPr>
            <a:spLocks noGrp="1"/>
          </p:cNvSpPr>
          <p:nvPr/>
        </p:nvSpPr>
        <p:spPr>
          <a:xfrm>
            <a:off x="666750" y="343852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B0DEDA-9B49-44EF-9598-5E15B1472AB7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506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正式管线采用 6 mm 入射光斑、15 mm 通光孔径、2048 × 2048 计算网格。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BDAEEA-1FAB-43EF-9D8B-653B30D73E29}"/>
              </a:ext>
            </a:extLst>
          </p:cNvPr>
          <p:cNvSpPr>
            <a:spLocks noGrp="1"/>
          </p:cNvSpPr>
          <p:nvPr/>
        </p:nvSpPr>
        <p:spPr>
          <a:xfrm>
            <a:off x="6096000" y="2266950"/>
            <a:ext cx="1952625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E35AC4-4710-4780-9A40-9072F93775EC}"/>
              </a:ext>
            </a:extLst>
          </p:cNvPr>
          <p:cNvSpPr>
            <a:spLocks noGrp="1"/>
          </p:cNvSpPr>
          <p:nvPr/>
        </p:nvSpPr>
        <p:spPr>
          <a:xfrm>
            <a:off x="6210300" y="2343150"/>
            <a:ext cx="17240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330 × 120 μm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4E9AB4-5E6D-4AC5-A6F9-19B0087AABFE}"/>
              </a:ext>
            </a:extLst>
          </p:cNvPr>
          <p:cNvSpPr>
            <a:spLocks noGrp="1"/>
          </p:cNvSpPr>
          <p:nvPr/>
        </p:nvSpPr>
        <p:spPr>
          <a:xfrm>
            <a:off x="6210300" y="260032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目标尺寸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87F93C-71E0-4236-B24C-0BE79AA039E8}"/>
              </a:ext>
            </a:extLst>
          </p:cNvPr>
          <p:cNvSpPr>
            <a:spLocks noGrp="1"/>
          </p:cNvSpPr>
          <p:nvPr/>
        </p:nvSpPr>
        <p:spPr>
          <a:xfrm>
            <a:off x="6210300" y="2762250"/>
            <a:ext cx="17240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50% full width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91EF4B-27A6-416E-BE73-B4634201547A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1952625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3B7D4B-8EDE-4F78-99C7-EF53D8D9CCA6}"/>
              </a:ext>
            </a:extLst>
          </p:cNvPr>
          <p:cNvSpPr>
            <a:spLocks noGrp="1"/>
          </p:cNvSpPr>
          <p:nvPr/>
        </p:nvSpPr>
        <p:spPr>
          <a:xfrm>
            <a:off x="6210300" y="3267075"/>
            <a:ext cx="17240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f = 429 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6C5E73-6537-4BE1-A3FF-94B9D831DA7B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傅里叶透镜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8A38B4-0BDE-4BDF-8F28-17E31A656D7D}"/>
              </a:ext>
            </a:extLst>
          </p:cNvPr>
          <p:cNvSpPr>
            <a:spLocks noGrp="1"/>
          </p:cNvSpPr>
          <p:nvPr/>
        </p:nvSpPr>
        <p:spPr>
          <a:xfrm>
            <a:off x="6210300" y="3686175"/>
            <a:ext cx="17240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正式光路参数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6C199D-1404-49B5-A1C2-4D64B784876D}"/>
              </a:ext>
            </a:extLst>
          </p:cNvPr>
          <p:cNvSpPr>
            <a:spLocks noGrp="1"/>
          </p:cNvSpPr>
          <p:nvPr/>
        </p:nvSpPr>
        <p:spPr>
          <a:xfrm>
            <a:off x="6096000" y="4114800"/>
            <a:ext cx="1952625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B040C1-4D1B-4446-8879-0C593D60A49B}"/>
              </a:ext>
            </a:extLst>
          </p:cNvPr>
          <p:cNvSpPr>
            <a:spLocks noGrp="1"/>
          </p:cNvSpPr>
          <p:nvPr/>
        </p:nvSpPr>
        <p:spPr>
          <a:xfrm>
            <a:off x="6210300" y="4191000"/>
            <a:ext cx="17240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6 mm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973E62-057F-4C5C-A59F-2F3B8A4EB80D}"/>
              </a:ext>
            </a:extLst>
          </p:cNvPr>
          <p:cNvSpPr>
            <a:spLocks noGrp="1"/>
          </p:cNvSpPr>
          <p:nvPr/>
        </p:nvSpPr>
        <p:spPr>
          <a:xfrm>
            <a:off x="6210300" y="444817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入射光斑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4818FF-1BAA-47A4-851F-7670CEC59679}"/>
              </a:ext>
            </a:extLst>
          </p:cNvPr>
          <p:cNvSpPr>
            <a:spLocks noGrp="1"/>
          </p:cNvSpPr>
          <p:nvPr/>
        </p:nvSpPr>
        <p:spPr>
          <a:xfrm>
            <a:off x="6210300" y="4610100"/>
            <a:ext cx="17240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1/e² 直径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B6F43E1-D2B4-4DF3-86B3-4F986D9DACC1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7A5C1A-D736-47F9-A778-39503643DE58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287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5D8F9FE-78C4-4799-B5C5-449AC5AD1538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项目流程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B254A-E5F7-40CD-8FB8-161A4B2046F1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DOE 只改变相位，但焦平面强度由传播后的复振幅决定。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5A637F-957F-45DF-8C16-F2F06949C999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550EF1-024A-43D1-84EA-C245AA7DE144}"/>
              </a:ext>
            </a:extLst>
          </p:cNvPr>
          <p:cNvSpPr>
            <a:spLocks noGrp="1"/>
          </p:cNvSpPr>
          <p:nvPr/>
        </p:nvSpPr>
        <p:spPr>
          <a:xfrm>
            <a:off x="584777" y="2066925"/>
            <a:ext cx="1429200" cy="781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1A334C-9450-47C2-A63A-595DDACB2225}"/>
              </a:ext>
            </a:extLst>
          </p:cNvPr>
          <p:cNvSpPr>
            <a:spLocks noGrp="1"/>
          </p:cNvSpPr>
          <p:nvPr/>
        </p:nvSpPr>
        <p:spPr>
          <a:xfrm>
            <a:off x="775502" y="2257500"/>
            <a:ext cx="104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输入高斯光束</a:t>
            </a:r>
            <a:endParaRPr sz="10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386BD-BB3C-4427-B36E-67AF4421B473}"/>
              </a:ext>
            </a:extLst>
          </p:cNvPr>
          <p:cNvSpPr>
            <a:spLocks noGrp="1"/>
          </p:cNvSpPr>
          <p:nvPr/>
        </p:nvSpPr>
        <p:spPr>
          <a:xfrm>
            <a:off x="2080652" y="2448000"/>
            <a:ext cx="619125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0F93AE-9E1C-4F8C-BF92-0F6A2127CBC3}"/>
              </a:ext>
            </a:extLst>
          </p:cNvPr>
          <p:cNvSpPr>
            <a:spLocks noGrp="1"/>
          </p:cNvSpPr>
          <p:nvPr/>
        </p:nvSpPr>
        <p:spPr>
          <a:xfrm>
            <a:off x="2595002" y="236227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56BC22-BA67-4B80-84E8-F6953927BCEB}"/>
              </a:ext>
            </a:extLst>
          </p:cNvPr>
          <p:cNvSpPr>
            <a:spLocks noGrp="1"/>
          </p:cNvSpPr>
          <p:nvPr/>
        </p:nvSpPr>
        <p:spPr>
          <a:xfrm>
            <a:off x="2747402" y="2067000"/>
            <a:ext cx="1428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955C75-0544-454F-A81B-D6688C3AD4B3}"/>
              </a:ext>
            </a:extLst>
          </p:cNvPr>
          <p:cNvSpPr>
            <a:spLocks noGrp="1"/>
          </p:cNvSpPr>
          <p:nvPr/>
        </p:nvSpPr>
        <p:spPr>
          <a:xfrm>
            <a:off x="2842652" y="2162250"/>
            <a:ext cx="1238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SLM / DOE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加载相位 φ(x,y)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9792FE-F6CB-457E-B41B-CFCA81354DA7}"/>
              </a:ext>
            </a:extLst>
          </p:cNvPr>
          <p:cNvSpPr>
            <a:spLocks noGrp="1"/>
          </p:cNvSpPr>
          <p:nvPr/>
        </p:nvSpPr>
        <p:spPr>
          <a:xfrm>
            <a:off x="4290452" y="2448000"/>
            <a:ext cx="619125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C063F4-5859-4742-87A6-BDE5AA83A812}"/>
              </a:ext>
            </a:extLst>
          </p:cNvPr>
          <p:cNvSpPr>
            <a:spLocks noGrp="1"/>
          </p:cNvSpPr>
          <p:nvPr/>
        </p:nvSpPr>
        <p:spPr>
          <a:xfrm>
            <a:off x="4804802" y="236227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FAE692-1E18-4D86-84A7-5197CAD80994}"/>
              </a:ext>
            </a:extLst>
          </p:cNvPr>
          <p:cNvSpPr>
            <a:spLocks noGrp="1"/>
          </p:cNvSpPr>
          <p:nvPr/>
        </p:nvSpPr>
        <p:spPr>
          <a:xfrm>
            <a:off x="4985777" y="2067000"/>
            <a:ext cx="1381125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96754E-2F2F-44CB-9910-78421E599781}"/>
              </a:ext>
            </a:extLst>
          </p:cNvPr>
          <p:cNvSpPr>
            <a:spLocks noGrp="1"/>
          </p:cNvSpPr>
          <p:nvPr/>
        </p:nvSpPr>
        <p:spPr>
          <a:xfrm>
            <a:off x="5081027" y="2162250"/>
            <a:ext cx="1190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傅里叶透镜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 = 429 mm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0DC94B-D815-429B-BF2F-9B25A3C549F7}"/>
              </a:ext>
            </a:extLst>
          </p:cNvPr>
          <p:cNvSpPr>
            <a:spLocks noGrp="1"/>
          </p:cNvSpPr>
          <p:nvPr/>
        </p:nvSpPr>
        <p:spPr>
          <a:xfrm>
            <a:off x="6462152" y="2448000"/>
            <a:ext cx="619125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21AB43-C89D-4DFD-957D-E6739573A5A7}"/>
              </a:ext>
            </a:extLst>
          </p:cNvPr>
          <p:cNvSpPr>
            <a:spLocks noGrp="1"/>
          </p:cNvSpPr>
          <p:nvPr/>
        </p:nvSpPr>
        <p:spPr>
          <a:xfrm>
            <a:off x="6976502" y="236227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DDC352-B34E-4DBD-9BD1-04F062ADE49A}"/>
              </a:ext>
            </a:extLst>
          </p:cNvPr>
          <p:cNvSpPr>
            <a:spLocks noGrp="1"/>
          </p:cNvSpPr>
          <p:nvPr/>
        </p:nvSpPr>
        <p:spPr>
          <a:xfrm>
            <a:off x="7128902" y="2067000"/>
            <a:ext cx="1381125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7791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6B93BD-F66F-4DF3-8743-78EADB747B4E}"/>
              </a:ext>
            </a:extLst>
          </p:cNvPr>
          <p:cNvSpPr>
            <a:spLocks noGrp="1"/>
          </p:cNvSpPr>
          <p:nvPr/>
        </p:nvSpPr>
        <p:spPr>
          <a:xfrm>
            <a:off x="7224152" y="2162250"/>
            <a:ext cx="1190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焦平面强度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 = |FFT(E)|²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5ECABE-E30F-45B9-89CA-43F220AF89A4}"/>
              </a:ext>
            </a:extLst>
          </p:cNvPr>
          <p:cNvSpPr>
            <a:spLocks noGrp="1"/>
          </p:cNvSpPr>
          <p:nvPr/>
        </p:nvSpPr>
        <p:spPr>
          <a:xfrm>
            <a:off x="1004327" y="3157575"/>
            <a:ext cx="6572250" cy="1276350"/>
          </a:xfrm>
          <a:prstGeom prst="rect">
            <a:avLst/>
          </a:prstGeom>
          <a:solidFill>
            <a:srgbClr val="FAFAFA"/>
          </a:solidFill>
          <a:ln w="9525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ADEFC1-F19F-4921-8546-181BFAE1C37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640222-F6D5-4817-A66A-C0DF4B94711C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0E1A5FF-8AFD-E238-BDC7-372DC59C7BA0}"/>
              </a:ext>
            </a:extLst>
          </p:cNvPr>
          <p:cNvGrpSpPr/>
          <p:nvPr/>
        </p:nvGrpSpPr>
        <p:grpSpPr>
          <a:xfrm>
            <a:off x="2714893" y="3247205"/>
            <a:ext cx="3151119" cy="1134505"/>
            <a:chOff x="1375494" y="4937855"/>
            <a:chExt cx="3151119" cy="11345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113A13A-13D9-36F5-06E4-C33CF3053723}"/>
                    </a:ext>
                  </a:extLst>
                </p:cNvPr>
                <p:cNvSpPr txBox="1"/>
                <p:nvPr/>
              </p:nvSpPr>
              <p:spPr>
                <a:xfrm>
                  <a:off x="1375494" y="4937855"/>
                  <a:ext cx="3151119" cy="2884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𝑑𝑜𝑒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113A13A-13D9-36F5-06E4-C33CF3053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94" y="4937855"/>
                  <a:ext cx="3151119" cy="288477"/>
                </a:xfrm>
                <a:prstGeom prst="rect">
                  <a:avLst/>
                </a:prstGeom>
                <a:blipFill>
                  <a:blip r:embed="rId4"/>
                  <a:stretch>
                    <a:fillRect l="-1161" t="-6383" r="-774" b="-255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0293538-A8A3-C746-3B95-120CF99E3805}"/>
                    </a:ext>
                  </a:extLst>
                </p:cNvPr>
                <p:cNvSpPr txBox="1"/>
                <p:nvPr/>
              </p:nvSpPr>
              <p:spPr>
                <a:xfrm>
                  <a:off x="1375494" y="5312875"/>
                  <a:ext cx="3117777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𝑓𝑜𝑐𝑎𝑙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𝐹𝐹𝑇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𝑑𝑜𝑒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0293538-A8A3-C746-3B95-120CF99E3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94" y="5312875"/>
                  <a:ext cx="3117777" cy="299249"/>
                </a:xfrm>
                <a:prstGeom prst="rect">
                  <a:avLst/>
                </a:prstGeom>
                <a:blipFill>
                  <a:blip r:embed="rId5"/>
                  <a:stretch>
                    <a:fillRect l="-1172" b="-2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2253042-E805-1950-7592-EDF443AF0DFE}"/>
                    </a:ext>
                  </a:extLst>
                </p:cNvPr>
                <p:cNvSpPr txBox="1"/>
                <p:nvPr/>
              </p:nvSpPr>
              <p:spPr>
                <a:xfrm>
                  <a:off x="1375494" y="5698668"/>
                  <a:ext cx="2866810" cy="373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𝑓𝑜𝑐𝑎𝑙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𝑓𝑜𝑐𝑎𝑙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2253042-E805-1950-7592-EDF443AF0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94" y="5698668"/>
                  <a:ext cx="2866810" cy="373692"/>
                </a:xfrm>
                <a:prstGeom prst="rect">
                  <a:avLst/>
                </a:prstGeom>
                <a:blipFill>
                  <a:blip r:embed="rId6"/>
                  <a:stretch>
                    <a:fillRect l="-1486" r="-212" b="-213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8B9DC379-754C-A187-3AF3-F0799E8CC4DD}"/>
              </a:ext>
            </a:extLst>
          </p:cNvPr>
          <p:cNvSpPr>
            <a:spLocks noGrp="1"/>
          </p:cNvSpPr>
          <p:nvPr/>
        </p:nvSpPr>
        <p:spPr>
          <a:xfrm>
            <a:off x="723953" y="4964567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812EBE-668F-7D7D-9BC0-8D687C4EB5DF}"/>
              </a:ext>
            </a:extLst>
          </p:cNvPr>
          <p:cNvSpPr>
            <a:spLocks noGrp="1"/>
          </p:cNvSpPr>
          <p:nvPr/>
        </p:nvSpPr>
        <p:spPr>
          <a:xfrm>
            <a:off x="819203" y="5078867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Romero-Dickey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1D0F3A5-5144-E3F8-C16F-8587B630A134}"/>
              </a:ext>
            </a:extLst>
          </p:cNvPr>
          <p:cNvSpPr>
            <a:spLocks noGrp="1"/>
          </p:cNvSpPr>
          <p:nvPr/>
        </p:nvSpPr>
        <p:spPr>
          <a:xfrm>
            <a:off x="1924103" y="5345567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DB46CE-0A67-37C8-3775-CEE40BE23048}"/>
              </a:ext>
            </a:extLst>
          </p:cNvPr>
          <p:cNvSpPr>
            <a:spLocks noGrp="1"/>
          </p:cNvSpPr>
          <p:nvPr/>
        </p:nvSpPr>
        <p:spPr>
          <a:xfrm>
            <a:off x="2162228" y="52407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82681D0-6622-34C4-0405-298184CA0B48}"/>
              </a:ext>
            </a:extLst>
          </p:cNvPr>
          <p:cNvSpPr>
            <a:spLocks noGrp="1"/>
          </p:cNvSpPr>
          <p:nvPr/>
        </p:nvSpPr>
        <p:spPr>
          <a:xfrm>
            <a:off x="2343203" y="4964567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AD435D7-DBE8-C42E-03CD-80F3E0885EDA}"/>
              </a:ext>
            </a:extLst>
          </p:cNvPr>
          <p:cNvSpPr>
            <a:spLocks noGrp="1"/>
          </p:cNvSpPr>
          <p:nvPr/>
        </p:nvSpPr>
        <p:spPr>
          <a:xfrm>
            <a:off x="2438453" y="5078867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RTAD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平滑目标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2C8DF0A-DF6E-E407-0D72-1D0EAA735886}"/>
              </a:ext>
            </a:extLst>
          </p:cNvPr>
          <p:cNvSpPr>
            <a:spLocks noGrp="1"/>
          </p:cNvSpPr>
          <p:nvPr/>
        </p:nvSpPr>
        <p:spPr>
          <a:xfrm>
            <a:off x="3543353" y="5345567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78A42D5-E77F-FE30-143B-C4857AAD9944}"/>
              </a:ext>
            </a:extLst>
          </p:cNvPr>
          <p:cNvSpPr>
            <a:spLocks noGrp="1"/>
          </p:cNvSpPr>
          <p:nvPr/>
        </p:nvSpPr>
        <p:spPr>
          <a:xfrm>
            <a:off x="3781478" y="52407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E2B9EE4-714B-F164-999E-EEEA25D74A05}"/>
              </a:ext>
            </a:extLst>
          </p:cNvPr>
          <p:cNvSpPr>
            <a:spLocks noGrp="1"/>
          </p:cNvSpPr>
          <p:nvPr/>
        </p:nvSpPr>
        <p:spPr>
          <a:xfrm>
            <a:off x="3962453" y="4964567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79A29D7-DFD8-4EDA-0593-C863D5C9614B}"/>
              </a:ext>
            </a:extLst>
          </p:cNvPr>
          <p:cNvSpPr>
            <a:spLocks noGrp="1"/>
          </p:cNvSpPr>
          <p:nvPr/>
        </p:nvSpPr>
        <p:spPr>
          <a:xfrm>
            <a:off x="4057703" y="5078867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MRAF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区域投影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A0D812-448D-C3A9-6907-7056200B6A69}"/>
              </a:ext>
            </a:extLst>
          </p:cNvPr>
          <p:cNvSpPr>
            <a:spLocks noGrp="1"/>
          </p:cNvSpPr>
          <p:nvPr/>
        </p:nvSpPr>
        <p:spPr>
          <a:xfrm>
            <a:off x="5162603" y="5345567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C1391A-6324-CF37-C585-1AFFF0934D99}"/>
              </a:ext>
            </a:extLst>
          </p:cNvPr>
          <p:cNvSpPr>
            <a:spLocks noGrp="1"/>
          </p:cNvSpPr>
          <p:nvPr/>
        </p:nvSpPr>
        <p:spPr>
          <a:xfrm>
            <a:off x="5400728" y="52407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C5A3B0F-0A0E-AF25-A3F8-BF3BA4894A73}"/>
              </a:ext>
            </a:extLst>
          </p:cNvPr>
          <p:cNvSpPr>
            <a:spLocks noGrp="1"/>
          </p:cNvSpPr>
          <p:nvPr/>
        </p:nvSpPr>
        <p:spPr>
          <a:xfrm>
            <a:off x="5581703" y="4964567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7791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F821A93-F911-1477-7F85-996781501C6F}"/>
              </a:ext>
            </a:extLst>
          </p:cNvPr>
          <p:cNvSpPr>
            <a:spLocks noGrp="1"/>
          </p:cNvSpPr>
          <p:nvPr/>
        </p:nvSpPr>
        <p:spPr>
          <a:xfrm>
            <a:off x="5676953" y="5078867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WGS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权重反馈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2B7A744-7083-84C1-6646-90C1B4745BFE}"/>
              </a:ext>
            </a:extLst>
          </p:cNvPr>
          <p:cNvSpPr>
            <a:spLocks noGrp="1"/>
          </p:cNvSpPr>
          <p:nvPr/>
        </p:nvSpPr>
        <p:spPr>
          <a:xfrm>
            <a:off x="6781853" y="5345567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85268AD-D0F2-26EA-EB65-318DCAD4F4A2}"/>
              </a:ext>
            </a:extLst>
          </p:cNvPr>
          <p:cNvSpPr>
            <a:spLocks noGrp="1"/>
          </p:cNvSpPr>
          <p:nvPr/>
        </p:nvSpPr>
        <p:spPr>
          <a:xfrm>
            <a:off x="7019978" y="5240792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56EAD2C-2D80-F6F5-3E65-4EB61501C630}"/>
              </a:ext>
            </a:extLst>
          </p:cNvPr>
          <p:cNvSpPr>
            <a:spLocks noGrp="1"/>
          </p:cNvSpPr>
          <p:nvPr/>
        </p:nvSpPr>
        <p:spPr>
          <a:xfrm>
            <a:off x="7200953" y="4964567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C496A1D-A427-D23A-E3D0-D10A8A58B363}"/>
              </a:ext>
            </a:extLst>
          </p:cNvPr>
          <p:cNvSpPr>
            <a:spLocks noGrp="1"/>
          </p:cNvSpPr>
          <p:nvPr/>
        </p:nvSpPr>
        <p:spPr>
          <a:xfrm>
            <a:off x="7296203" y="5078867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refined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83826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E4C9C8-B178-4B51-963B-12815E2E4FF6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it-IT"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Romero-Dickey 初始相位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4E08A9-B564-4DA5-BDDB-08D6BCE738CB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论文先建立输入到输出的能量映射，再由相位梯度积分得到解析初值。</a:t>
            </a:r>
            <a:endParaRPr sz="1050" b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EA5165-1597-4DD7-B9D3-DE73BB353D2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15F16D-596D-44EB-8BA4-8389409C6393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C982E3-EE46-4D14-A4BC-4FCDECFA60A1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DOE </a:t>
            </a:r>
            <a:r>
              <a:rPr lang="zh-CN" altLang="en-US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不改变入射高斯光的振幅，只给出相位 </a:t>
            </a:r>
            <a:r>
              <a:rPr lang="en-US" altLang="zh-CN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φ</a:t>
            </a:r>
            <a:r>
              <a:rPr lang="zh-CN" altLang="en-US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；焦平面强度由傅里叶透镜后的复场决定。</a:t>
            </a:r>
            <a:endParaRPr sz="1400" b="0">
              <a:solidFill>
                <a:srgbClr val="2D2D2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61F8C6-FF6E-49A5-B7AA-D6EA63078276}"/>
              </a:ext>
            </a:extLst>
          </p:cNvPr>
          <p:cNvSpPr>
            <a:spLocks noGrp="1"/>
          </p:cNvSpPr>
          <p:nvPr/>
        </p:nvSpPr>
        <p:spPr>
          <a:xfrm>
            <a:off x="666750" y="277177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A6FAE8-A3BC-4A81-81A7-7E0315CDA794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506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在大 </a:t>
            </a:r>
            <a:r>
              <a:rPr lang="en-US" altLang="zh-CN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β / </a:t>
            </a:r>
            <a:r>
              <a:rPr lang="zh-CN" altLang="en-US" sz="1400" b="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稳相近似下，相位梯度对应局部偏转方向，也就是输入坐标到输出坐标的映射。</a:t>
            </a:r>
            <a:endParaRPr sz="1400" b="0">
              <a:solidFill>
                <a:srgbClr val="2D2D2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70CE0B-89B2-4D54-B319-B56B78EED7FC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219075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57925" y="2424113"/>
            <a:ext cx="2057400" cy="17145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A7768C1-0452-4B7F-95B4-C2D7A5D124DF}"/>
              </a:ext>
            </a:extLst>
          </p:cNvPr>
          <p:cNvSpPr>
            <a:spLocks noGrp="1"/>
          </p:cNvSpPr>
          <p:nvPr/>
        </p:nvSpPr>
        <p:spPr>
          <a:xfrm>
            <a:off x="6286500" y="4333875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Romero-Dickey </a:t>
            </a:r>
            <a:r>
              <a:rPr lang="zh-CN" altLang="en-US"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初始相位 </a:t>
            </a:r>
            <a:r>
              <a:rPr lang="en-US"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phase0（</a:t>
            </a:r>
            <a:r>
              <a:rPr lang="zh-CN" altLang="en-US"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热启动）</a:t>
            </a:r>
            <a:endParaRPr sz="675" b="0">
              <a:solidFill>
                <a:srgbClr val="6666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4E7D84-D3AC-4FB3-8F27-F62B63DBA958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BEBA0F-9EB9-4A3D-8409-620D9B1099E9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668B91A-2173-8FF9-13B0-2694B398F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7800"/>
            <a:ext cx="4952381" cy="78095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5F7AF6B-8F63-7D30-DF0C-EA1968D42A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13300"/>
            <a:ext cx="3933333" cy="54285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AF86D9A-B646-9102-6852-0101F81C4AC5}"/>
              </a:ext>
            </a:extLst>
          </p:cNvPr>
          <p:cNvSpPr/>
          <p:nvPr/>
        </p:nvSpPr>
        <p:spPr>
          <a:xfrm>
            <a:off x="666750" y="3371850"/>
            <a:ext cx="67310" cy="67310"/>
          </a:xfrm>
          <a:prstGeom prst="rect">
            <a:avLst/>
          </a:prstGeom>
          <a:solidFill>
            <a:srgbClr val="B0002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F2D450-A7E1-EF71-C20C-509CE7179CC0}"/>
              </a:ext>
            </a:extLst>
          </p:cNvPr>
          <p:cNvSpPr txBox="1"/>
          <p:nvPr/>
        </p:nvSpPr>
        <p:spPr>
          <a:xfrm>
            <a:off x="838200" y="3263900"/>
            <a:ext cx="520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累计能量守恒确定映射；矩形目标可分成 </a:t>
            </a:r>
            <a:r>
              <a:rPr lang="en-US" altLang="zh-CN" sz="140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40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r>
              <a:rPr lang="zh-CN" altLang="en-US" sz="1400">
                <a:solidFill>
                  <a:srgbClr val="2D2D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两个一维相位后叠加。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44AC19-94A4-F6CF-3881-520F35ADBCCA}"/>
              </a:ext>
            </a:extLst>
          </p:cNvPr>
          <p:cNvSpPr txBox="1"/>
          <p:nvPr/>
        </p:nvSpPr>
        <p:spPr>
          <a:xfrm>
            <a:off x="596900" y="5473700"/>
            <a:ext cx="6604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5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依据 </a:t>
            </a:r>
            <a:r>
              <a:rPr lang="en-US" altLang="zh-CN" sz="95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Romero &amp; Dickey, JOSA A 1996, Sec. 2-3</a:t>
            </a:r>
            <a:r>
              <a:rPr lang="zh-CN" altLang="en-US" sz="950">
                <a:solidFill>
                  <a:srgbClr val="6969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；常数相位不影响焦平面强度。</a:t>
            </a:r>
          </a:p>
        </p:txBody>
      </p:sp>
    </p:spTree>
    <p:extLst>
      <p:ext uri="{BB962C8B-B14F-4D97-AF65-F5344CB8AC3E}">
        <p14:creationId xmlns:p14="http://schemas.microsoft.com/office/powerpoint/2010/main" val="135006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D005633-D5D1-4CA8-986E-AD5FE84F3F6D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β 参数的作用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EE3CCD-00BD-43DB-AF29-EB9C3E3AC00D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β 用来判断解析相位近似是否足够。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896385-BAD2-4F95-BDAA-4AB501F8A0AA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ACA3B1-2933-45F1-BDA4-BBDCF1F6891E}"/>
              </a:ext>
            </a:extLst>
          </p:cNvPr>
          <p:cNvSpPr>
            <a:spLocks noGrp="1"/>
          </p:cNvSpPr>
          <p:nvPr/>
        </p:nvSpPr>
        <p:spPr>
          <a:xfrm>
            <a:off x="762000" y="3248025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A5A8B8-9053-4CC6-847C-15E3E160D5FE}"/>
              </a:ext>
            </a:extLst>
          </p:cNvPr>
          <p:cNvSpPr>
            <a:spLocks noGrp="1"/>
          </p:cNvSpPr>
          <p:nvPr/>
        </p:nvSpPr>
        <p:spPr>
          <a:xfrm>
            <a:off x="933450" y="316230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β 越大，解析近似通常越接近几何光学结果。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82D3B5-84F3-412E-AA25-01B8BF74DA84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55E381-960A-47DC-9443-E9AAAA45E71F}"/>
              </a:ext>
            </a:extLst>
          </p:cNvPr>
          <p:cNvSpPr>
            <a:spLocks noGrp="1"/>
          </p:cNvSpPr>
          <p:nvPr/>
        </p:nvSpPr>
        <p:spPr>
          <a:xfrm>
            <a:off x="933450" y="369570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本项目</a:t>
            </a:r>
            <a:r>
              <a:rPr lang="zh-CN" altLang="en-US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l-GR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β_</a:t>
            </a:r>
            <a:r>
              <a:rPr lang="en-US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 = 3.30，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短轴方向仍需要</a:t>
            </a:r>
            <a:r>
              <a:rPr lang="zh-CN" altLang="en-US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迭</a:t>
            </a: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代修正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313608-F04E-4002-8D6D-583F15237BDF}"/>
              </a:ext>
            </a:extLst>
          </p:cNvPr>
          <p:cNvSpPr>
            <a:spLocks noGrp="1"/>
          </p:cNvSpPr>
          <p:nvPr/>
        </p:nvSpPr>
        <p:spPr>
          <a:xfrm>
            <a:off x="5953125" y="2286000"/>
            <a:ext cx="18097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FB0243-7FB2-441E-9539-B504B1C67CED}"/>
              </a:ext>
            </a:extLst>
          </p:cNvPr>
          <p:cNvSpPr>
            <a:spLocks noGrp="1"/>
          </p:cNvSpPr>
          <p:nvPr/>
        </p:nvSpPr>
        <p:spPr>
          <a:xfrm>
            <a:off x="6067425" y="2362200"/>
            <a:ext cx="1581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β_x = 9.06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47C4EF-8EB5-4A2B-BA06-96A70EB16757}"/>
              </a:ext>
            </a:extLst>
          </p:cNvPr>
          <p:cNvSpPr>
            <a:spLocks noGrp="1"/>
          </p:cNvSpPr>
          <p:nvPr/>
        </p:nvSpPr>
        <p:spPr>
          <a:xfrm>
            <a:off x="6067425" y="2619375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 方向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923F3B-06D1-44C6-94BC-FF526E5BDDA3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15811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长轴方向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CF396F-AF2B-4EA8-AE5B-09A94BB5DB48}"/>
              </a:ext>
            </a:extLst>
          </p:cNvPr>
          <p:cNvSpPr>
            <a:spLocks noGrp="1"/>
          </p:cNvSpPr>
          <p:nvPr/>
        </p:nvSpPr>
        <p:spPr>
          <a:xfrm>
            <a:off x="5953125" y="3219450"/>
            <a:ext cx="18097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BF9738-9CD7-4AF2-9DB8-77C3E95A8655}"/>
              </a:ext>
            </a:extLst>
          </p:cNvPr>
          <p:cNvSpPr>
            <a:spLocks noGrp="1"/>
          </p:cNvSpPr>
          <p:nvPr/>
        </p:nvSpPr>
        <p:spPr>
          <a:xfrm>
            <a:off x="6067425" y="3295650"/>
            <a:ext cx="1581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l-GR" sz="165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β_</a:t>
            </a:r>
            <a:r>
              <a:rPr lang="en-US" sz="165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y = 3.30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E9350B-F89F-47FB-9B45-C9F77F46BDE8}"/>
              </a:ext>
            </a:extLst>
          </p:cNvPr>
          <p:cNvSpPr>
            <a:spLocks noGrp="1"/>
          </p:cNvSpPr>
          <p:nvPr/>
        </p:nvSpPr>
        <p:spPr>
          <a:xfrm>
            <a:off x="6067425" y="3552825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 方向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F51E5F-6A02-470C-8C75-08F8F5A2AABE}"/>
              </a:ext>
            </a:extLst>
          </p:cNvPr>
          <p:cNvSpPr>
            <a:spLocks noGrp="1"/>
          </p:cNvSpPr>
          <p:nvPr/>
        </p:nvSpPr>
        <p:spPr>
          <a:xfrm>
            <a:off x="6067425" y="3714750"/>
            <a:ext cx="15811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限制方向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9C6976-F7DE-460C-A935-02DB67FCF64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590D47-0DCA-466D-8CEE-DB61E82FF987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3C1FB4E-0AB7-F686-E8A8-A5F8FC1B7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2070776"/>
            <a:ext cx="2219048" cy="7904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B374521-6779-9B7E-6F07-E6A496703D6B}"/>
              </a:ext>
            </a:extLst>
          </p:cNvPr>
          <p:cNvSpPr/>
          <p:nvPr/>
        </p:nvSpPr>
        <p:spPr>
          <a:xfrm>
            <a:off x="762000" y="5397500"/>
            <a:ext cx="7747000" cy="838200"/>
          </a:xfrm>
          <a:prstGeom prst="rect">
            <a:avLst/>
          </a:prstGeom>
          <a:solidFill>
            <a:srgbClr val="FFFFFF">
              <a:alpha val="94000"/>
            </a:srgbClr>
          </a:solidFill>
          <a:ln w="9525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E83032-825F-B3F6-0419-134808B8692D}"/>
              </a:ext>
            </a:extLst>
          </p:cNvPr>
          <p:cNvSpPr txBox="1"/>
          <p:nvPr/>
        </p:nvSpPr>
        <p:spPr>
          <a:xfrm>
            <a:off x="914400" y="5473700"/>
            <a:ext cx="10795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 b="1">
                <a:solidFill>
                  <a:srgbClr val="B00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符号说明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9B5012-E32E-275B-F58F-E2097A1570FB}"/>
              </a:ext>
            </a:extLst>
          </p:cNvPr>
          <p:cNvSpPr txBox="1"/>
          <p:nvPr/>
        </p:nvSpPr>
        <p:spPr>
          <a:xfrm>
            <a:off x="914400" y="5689600"/>
            <a:ext cx="3810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r_i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：入射高斯光束的特征半径（按 </a:t>
            </a:r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mm 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入射光斑换算）</a:t>
            </a:r>
          </a:p>
          <a:p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R_o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：焦平面目标光斑的特征尺度，</a:t>
            </a:r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x/y 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分别对应长轴、短轴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8AE315-FD48-9609-FFEC-6A12D0DD07E6}"/>
              </a:ext>
            </a:extLst>
          </p:cNvPr>
          <p:cNvSpPr txBox="1"/>
          <p:nvPr/>
        </p:nvSpPr>
        <p:spPr>
          <a:xfrm>
            <a:off x="4927600" y="5689600"/>
            <a:ext cx="3429000" cy="53091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：激光波长，本项目为 </a:t>
            </a:r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532 nm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：傅里叶透镜焦距</a:t>
            </a:r>
          </a:p>
          <a:p>
            <a:r>
              <a:rPr lang="en-US" altLang="zh-CN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950">
                <a:solidFill>
                  <a:srgbClr val="3737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：空间带宽积形式的无量纲参数，越大解析相位越接近几何光学结果</a:t>
            </a:r>
          </a:p>
        </p:txBody>
      </p:sp>
    </p:spTree>
    <p:extLst>
      <p:ext uri="{BB962C8B-B14F-4D97-AF65-F5344CB8AC3E}">
        <p14:creationId xmlns:p14="http://schemas.microsoft.com/office/powerpoint/2010/main" val="24835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A95814E-42BB-4282-855E-07E336CA866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初始相位</a:t>
            </a:r>
            <a:r>
              <a:rPr lang="zh-CN" altLang="en-US"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2BB82B-826B-42AE-98C3-0CD6A5D4D9CB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解析相位提供热启动，但焦平面平台仍有非均匀性。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C23BB5-6DFD-4991-90F1-FFE2BE512A3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D024CA-190E-454D-A7DC-F7065D23DFE9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2333625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2412206"/>
            <a:ext cx="2200275" cy="18335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7F7D07-C509-44CA-9F07-1744D772FF26}"/>
              </a:ext>
            </a:extLst>
          </p:cNvPr>
          <p:cNvSpPr>
            <a:spLocks noGrp="1"/>
          </p:cNvSpPr>
          <p:nvPr/>
        </p:nvSpPr>
        <p:spPr>
          <a:xfrm>
            <a:off x="809625" y="4476750"/>
            <a:ext cx="21431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phase0 相位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FBE3FD-DCF1-4D57-93E3-FC7028B59179}"/>
              </a:ext>
            </a:extLst>
          </p:cNvPr>
          <p:cNvSpPr>
            <a:spLocks noGrp="1"/>
          </p:cNvSpPr>
          <p:nvPr/>
        </p:nvSpPr>
        <p:spPr>
          <a:xfrm>
            <a:off x="3524250" y="2143125"/>
            <a:ext cx="3143250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90925" y="2361520"/>
            <a:ext cx="3009900" cy="193493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B601A61-2062-4605-B1CE-68B75C0DDD33}"/>
              </a:ext>
            </a:extLst>
          </p:cNvPr>
          <p:cNvSpPr>
            <a:spLocks noGrp="1"/>
          </p:cNvSpPr>
          <p:nvPr/>
        </p:nvSpPr>
        <p:spPr>
          <a:xfrm>
            <a:off x="3619500" y="4476750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phase0 对应的初始焦斑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230131-1A63-4EF8-8166-DC2C472E707D}"/>
              </a:ext>
            </a:extLst>
          </p:cNvPr>
          <p:cNvSpPr>
            <a:spLocks noGrp="1"/>
          </p:cNvSpPr>
          <p:nvPr/>
        </p:nvSpPr>
        <p:spPr>
          <a:xfrm>
            <a:off x="6858000" y="2419350"/>
            <a:ext cx="66675" cy="66675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26AD4F-C31A-4AD6-844D-8029E89A439E}"/>
              </a:ext>
            </a:extLst>
          </p:cNvPr>
          <p:cNvSpPr>
            <a:spLocks noGrp="1"/>
          </p:cNvSpPr>
          <p:nvPr/>
        </p:nvSpPr>
        <p:spPr>
          <a:xfrm>
            <a:off x="7029450" y="2333625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初始相位保留明确的物理结构，适合作为迭代起点。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850025-2C40-4150-B15C-E00967392142}"/>
              </a:ext>
            </a:extLst>
          </p:cNvPr>
          <p:cNvSpPr>
            <a:spLocks noGrp="1"/>
          </p:cNvSpPr>
          <p:nvPr/>
        </p:nvSpPr>
        <p:spPr>
          <a:xfrm>
            <a:off x="6858000" y="327660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D1ACC-B625-4141-A28E-F780448E1EFD}"/>
              </a:ext>
            </a:extLst>
          </p:cNvPr>
          <p:cNvSpPr>
            <a:spLocks noGrp="1"/>
          </p:cNvSpPr>
          <p:nvPr/>
        </p:nvSpPr>
        <p:spPr>
          <a:xfrm>
            <a:off x="7029450" y="3190875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焦斑已经接近矩形，但平顶区仍有波纹和边缘误差。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3DF168-522B-404C-B674-77B2C533BC88}"/>
              </a:ext>
            </a:extLst>
          </p:cNvPr>
          <p:cNvSpPr>
            <a:spLocks noGrp="1"/>
          </p:cNvSpPr>
          <p:nvPr/>
        </p:nvSpPr>
        <p:spPr>
          <a:xfrm>
            <a:off x="6858000" y="4133850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E74D37-7A5A-4A2B-AF84-C874A7644017}"/>
              </a:ext>
            </a:extLst>
          </p:cNvPr>
          <p:cNvSpPr>
            <a:spLocks noGrp="1"/>
          </p:cNvSpPr>
          <p:nvPr/>
        </p:nvSpPr>
        <p:spPr>
          <a:xfrm>
            <a:off x="7029450" y="4048125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 RTAD / MRAF / WGS 只是在这个物理起点上继续修正。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185A1-820A-48C7-BCE0-D9A7B5561E6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F2B3B1-B4A9-41D3-8EC2-7B6B2BD95BB0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523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1606ACE-2E74-41B6-A446-77A6BA656124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RTAD 目标函数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24A81-D5AD-4503-B232-0AE34C13F17F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用升余弦下降边缘替代硬截断，降低目标带来的高频成分。</a:t>
            </a:r>
            <a:endParaRPr sz="1050" b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B39EA3-715B-4989-B885-C6D97EE718FD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31450F-F10E-4B3E-A924-D18E9C31A96D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9527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3425" y="2398939"/>
            <a:ext cx="2819400" cy="18124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8D27851-1F72-4239-BBBF-2E1B56877E6D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2762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RTAD 目标强度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0C9C16-2A09-47B4-8878-899414306CA6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2385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095911-E431-4EBE-AC36-0C2E135FD0A2}"/>
              </a:ext>
            </a:extLst>
          </p:cNvPr>
          <p:cNvSpPr>
            <a:spLocks noGrp="1"/>
          </p:cNvSpPr>
          <p:nvPr/>
        </p:nvSpPr>
        <p:spPr>
          <a:xfrm>
            <a:off x="4095750" y="4429125"/>
            <a:ext cx="3048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升余弦边缘函数 </a:t>
            </a:r>
            <a:r>
              <a:rPr lang="en-US"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C(u)</a:t>
            </a:r>
            <a:endParaRPr sz="675" b="0">
              <a:solidFill>
                <a:srgbClr val="6666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F6D9F1-04C6-4883-8A84-28B088F14C03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本项目采用截断 RTAD：只约束 I ≥ exp(-2) ≈ 13.5% 的信号区。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15B09D-411F-4211-80B7-F80C0ECAF37C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5A1408-EA9F-4B2C-B3DF-3CC4E0C665ED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3C8167B-C4B3-6F41-959E-DC47DEC12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52" y="4644077"/>
            <a:ext cx="3381375" cy="10377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51590D1-69EA-79EA-57B4-F8B514AD9A6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2336800"/>
            <a:ext cx="31115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3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72E84D5-22F1-4D66-909D-A37B3ABF4A79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区域划分与 MRAF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CDE67B-ACB3-423B-A2FD-6B5BD61717BE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把焦平面分成约束区和自由区，避免过强的背景约束。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382778-2339-4911-BFF0-DE0B03B193F3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0D03D0-790F-4F10-854C-5EAD45FCE584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429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2483984"/>
            <a:ext cx="3295650" cy="211863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1AE99A7-FD0A-4B07-9593-DD4AECF653D6}"/>
              </a:ext>
            </a:extLst>
          </p:cNvPr>
          <p:cNvSpPr>
            <a:spLocks noGrp="1"/>
          </p:cNvSpPr>
          <p:nvPr/>
        </p:nvSpPr>
        <p:spPr>
          <a:xfrm>
            <a:off x="809625" y="4905375"/>
            <a:ext cx="3238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flat / signal / free / background 区域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510614-C854-488D-A0CF-2524F7287BCD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1AE5E9-8B50-4A14-8E17-A25745216E34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B50031F-029B-AEA2-869F-BEAF1F81C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380115"/>
            <a:ext cx="3634734" cy="251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000CF8C-5B68-406D-9BE3-F09067C53D5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WGS 权重反馈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22551A-D7A3-4AF5-BB92-CBFC2ED36FEE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只在平顶核心区更新权重，用局部反馈改善均匀性。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FFE4EC-3326-425A-A79C-ADCCC780B69C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A772F6-E96D-4CA9-B13B-92718D01A8FF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14325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3425" y="2409145"/>
            <a:ext cx="3009900" cy="19349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FDBC515-9C57-4BE6-9868-F9B02DA506FA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最终 WGS 权重分布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838CB2-1F69-4F43-B423-5D63ED7C070D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3429000" cy="1066800"/>
          </a:xfrm>
          <a:prstGeom prst="rect">
            <a:avLst/>
          </a:prstGeom>
          <a:solidFill>
            <a:srgbClr val="FAFAFA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359D99-97AA-4DAD-A554-C49B89E92F66}"/>
              </a:ext>
            </a:extLst>
          </p:cNvPr>
          <p:cNvSpPr>
            <a:spLocks noGrp="1"/>
          </p:cNvSpPr>
          <p:nvPr/>
        </p:nvSpPr>
        <p:spPr>
          <a:xfrm>
            <a:off x="4429125" y="2995579"/>
            <a:ext cx="31242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222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w = clip(w, 0.5, 2.0)</a:t>
            </a:r>
          </a:p>
          <a:p>
            <a:pPr algn="l">
              <a:defRPr sz="1275" b="0">
                <a:solidFill>
                  <a:srgbClr val="222222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w ← w / mean(w)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1DEA79-8865-4B55-842F-939101D0E1DA}"/>
              </a:ext>
            </a:extLst>
          </p:cNvPr>
          <p:cNvSpPr>
            <a:spLocks noGrp="1"/>
          </p:cNvSpPr>
          <p:nvPr/>
        </p:nvSpPr>
        <p:spPr>
          <a:xfrm>
            <a:off x="4429125" y="3943350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CA66FB-02BC-4380-879A-D1959DEAB99C}"/>
              </a:ext>
            </a:extLst>
          </p:cNvPr>
          <p:cNvSpPr>
            <a:spLocks noGrp="1"/>
          </p:cNvSpPr>
          <p:nvPr/>
        </p:nvSpPr>
        <p:spPr>
          <a:xfrm>
            <a:off x="4600575" y="385762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局部偏暗的位置提高目标权重。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EB7D23-3AFC-4326-A8E9-5B674DB4E228}"/>
              </a:ext>
            </a:extLst>
          </p:cNvPr>
          <p:cNvSpPr>
            <a:spLocks noGrp="1"/>
          </p:cNvSpPr>
          <p:nvPr/>
        </p:nvSpPr>
        <p:spPr>
          <a:xfrm>
            <a:off x="4429125" y="441960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EB3409-EDB9-46E4-A1AA-C35F404FF68A}"/>
              </a:ext>
            </a:extLst>
          </p:cNvPr>
          <p:cNvSpPr>
            <a:spLocks noGrp="1"/>
          </p:cNvSpPr>
          <p:nvPr/>
        </p:nvSpPr>
        <p:spPr>
          <a:xfrm>
            <a:off x="4600575" y="433387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局部偏亮的位置降低目标权重。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9242F8-A80F-4E26-B624-98467D1C1CC9}"/>
              </a:ext>
            </a:extLst>
          </p:cNvPr>
          <p:cNvSpPr>
            <a:spLocks noGrp="1"/>
          </p:cNvSpPr>
          <p:nvPr/>
        </p:nvSpPr>
        <p:spPr>
          <a:xfrm>
            <a:off x="4429125" y="4895850"/>
            <a:ext cx="66675" cy="66675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358511-474C-4EAE-99DC-ACF0EF816680}"/>
              </a:ext>
            </a:extLst>
          </p:cNvPr>
          <p:cNvSpPr>
            <a:spLocks noGrp="1"/>
          </p:cNvSpPr>
          <p:nvPr/>
        </p:nvSpPr>
        <p:spPr>
          <a:xfrm>
            <a:off x="4600575" y="481012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边缘区、自由区和背景区不参与权重更新。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F46DFF-4F8F-49A5-A2B8-93B3F70A8FB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B763B-EE2F-4439-A967-B31E4F07CF01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5BF5113-A768-03C1-AE02-DE9338872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450" y="2386046"/>
            <a:ext cx="1881332" cy="38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0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D6A9AC7-7730-4CF8-815D-C14474D27FCD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优化前后对比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4AE415-FA0E-444D-894A-E25E13B2D717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WGS 优化后，矩形区域内的强度分布更接近平顶。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42AC0B-5F4D-4ECF-86AD-0BC55265CAB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F5FD8E-AF24-4368-A415-359870EC5C52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25" y="2480582"/>
            <a:ext cx="3009900" cy="19349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09F6B0-6BC6-4683-A8A7-FE0219B18CE2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优化前：phase0 焦斑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160DC9-CF68-48BA-BD8E-C3E3C1F206B2}"/>
              </a:ext>
            </a:extLst>
          </p:cNvPr>
          <p:cNvSpPr>
            <a:spLocks noGrp="1"/>
          </p:cNvSpPr>
          <p:nvPr/>
        </p:nvSpPr>
        <p:spPr>
          <a:xfrm>
            <a:off x="4286250" y="3233737"/>
            <a:ext cx="8001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WGS</a:t>
            </a:r>
          </a:p>
          <a:p>
            <a:pPr algn="ctr">
              <a:defRPr sz="120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200 iter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7CE63D-2D66-4824-8FFE-805C47C772EA}"/>
              </a:ext>
            </a:extLst>
          </p:cNvPr>
          <p:cNvSpPr>
            <a:spLocks noGrp="1"/>
          </p:cNvSpPr>
          <p:nvPr/>
        </p:nvSpPr>
        <p:spPr>
          <a:xfrm>
            <a:off x="4048125" y="3409950"/>
            <a:ext cx="11430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730E8E-A960-448A-9B70-9B214D54E589}"/>
              </a:ext>
            </a:extLst>
          </p:cNvPr>
          <p:cNvSpPr>
            <a:spLocks noGrp="1"/>
          </p:cNvSpPr>
          <p:nvPr/>
        </p:nvSpPr>
        <p:spPr>
          <a:xfrm>
            <a:off x="5086350" y="330517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B72DD5-11D8-44C7-981E-29F2DEF381AE}"/>
              </a:ext>
            </a:extLst>
          </p:cNvPr>
          <p:cNvSpPr>
            <a:spLocks noGrp="1"/>
          </p:cNvSpPr>
          <p:nvPr/>
        </p:nvSpPr>
        <p:spPr>
          <a:xfrm>
            <a:off x="5286375" y="219075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53050" y="2480582"/>
            <a:ext cx="3009900" cy="193493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268B788-AF05-428A-8368-8D8A5907F61E}"/>
              </a:ext>
            </a:extLst>
          </p:cNvPr>
          <p:cNvSpPr>
            <a:spLocks noGrp="1"/>
          </p:cNvSpPr>
          <p:nvPr/>
        </p:nvSpPr>
        <p:spPr>
          <a:xfrm>
            <a:off x="5381625" y="4667250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优化后：refined 焦斑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895464-454B-412B-925E-B9E8F636F7E6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这里重点看平顶区域的均匀性，而不是只看轮廓是否像矩形。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82DE80-8B1E-46D5-87FC-51FDCB591732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56BD2A-9A15-444B-8B76-919DD618D28D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37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2D7396E-BCC4-4994-A610-9091294B86F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3B6599-4D93-46E9-B319-5258A3E7F664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中心剖面和指标用于确认尺寸与平台均匀性。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D17D6B-7228-4F74-9579-6873BCA5EC6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A9CBBD-FBE5-496F-91E2-9FED87455630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5810250" cy="3476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25449"/>
            <a:ext cx="5676900" cy="206432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F988D40-9267-4B9F-9EDB-70149F82C9B3}"/>
              </a:ext>
            </a:extLst>
          </p:cNvPr>
          <p:cNvSpPr>
            <a:spLocks noGrp="1"/>
          </p:cNvSpPr>
          <p:nvPr/>
        </p:nvSpPr>
        <p:spPr>
          <a:xfrm>
            <a:off x="714375" y="5381625"/>
            <a:ext cx="561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x / y 中心剖面对比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744D5B-7AB1-4794-8350-2B94DB130058}"/>
              </a:ext>
            </a:extLst>
          </p:cNvPr>
          <p:cNvSpPr>
            <a:spLocks noGrp="1"/>
          </p:cNvSpPr>
          <p:nvPr/>
        </p:nvSpPr>
        <p:spPr>
          <a:xfrm>
            <a:off x="6715125" y="2238375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95A751-4F19-47FD-9ACF-2D7BCC8870E7}"/>
              </a:ext>
            </a:extLst>
          </p:cNvPr>
          <p:cNvSpPr>
            <a:spLocks noGrp="1"/>
          </p:cNvSpPr>
          <p:nvPr/>
        </p:nvSpPr>
        <p:spPr>
          <a:xfrm>
            <a:off x="6829425" y="2314575"/>
            <a:ext cx="1390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1.86%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61151C-002E-4154-A066-56CE50558518}"/>
              </a:ext>
            </a:extLst>
          </p:cNvPr>
          <p:cNvSpPr>
            <a:spLocks noGrp="1"/>
          </p:cNvSpPr>
          <p:nvPr/>
        </p:nvSpPr>
        <p:spPr>
          <a:xfrm>
            <a:off x="6829425" y="2571750"/>
            <a:ext cx="1390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RMS 非均匀性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78821A-9E3B-4321-861B-273D668102BE}"/>
              </a:ext>
            </a:extLst>
          </p:cNvPr>
          <p:cNvSpPr>
            <a:spLocks noGrp="1"/>
          </p:cNvSpPr>
          <p:nvPr/>
        </p:nvSpPr>
        <p:spPr>
          <a:xfrm>
            <a:off x="6829425" y="2733675"/>
            <a:ext cx="13906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mask_flat 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19757A-852D-45D6-BF2D-7930CA8D4FCD}"/>
              </a:ext>
            </a:extLst>
          </p:cNvPr>
          <p:cNvSpPr>
            <a:spLocks noGrp="1"/>
          </p:cNvSpPr>
          <p:nvPr/>
        </p:nvSpPr>
        <p:spPr>
          <a:xfrm>
            <a:off x="6715125" y="3190875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EE2E1-BF97-4F93-953A-2BEBC8C552F5}"/>
              </a:ext>
            </a:extLst>
          </p:cNvPr>
          <p:cNvSpPr>
            <a:spLocks noGrp="1"/>
          </p:cNvSpPr>
          <p:nvPr/>
        </p:nvSpPr>
        <p:spPr>
          <a:xfrm>
            <a:off x="6829424" y="3267075"/>
            <a:ext cx="15525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330.2 / 123.6 μm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6B01CD-1F84-40A6-9BD3-B95C0F1816D4}"/>
              </a:ext>
            </a:extLst>
          </p:cNvPr>
          <p:cNvSpPr>
            <a:spLocks noGrp="1"/>
          </p:cNvSpPr>
          <p:nvPr/>
        </p:nvSpPr>
        <p:spPr>
          <a:xfrm>
            <a:off x="6829425" y="3524250"/>
            <a:ext cx="1390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</a:t>
            </a:r>
            <a:r>
              <a:rPr lang="en-US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ze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 x / 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9FE1AA-0EAE-4042-A727-30E255ADEBB4}"/>
              </a:ext>
            </a:extLst>
          </p:cNvPr>
          <p:cNvSpPr>
            <a:spLocks noGrp="1"/>
          </p:cNvSpPr>
          <p:nvPr/>
        </p:nvSpPr>
        <p:spPr>
          <a:xfrm>
            <a:off x="6829425" y="3686175"/>
            <a:ext cx="13906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目标 330 / 120 μm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D3C63-B8C2-4E89-B641-2679305CFAFA}"/>
              </a:ext>
            </a:extLst>
          </p:cNvPr>
          <p:cNvSpPr>
            <a:spLocks noGrp="1"/>
          </p:cNvSpPr>
          <p:nvPr/>
        </p:nvSpPr>
        <p:spPr>
          <a:xfrm>
            <a:off x="6715125" y="4143375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66EC93-9FEE-4635-9360-C82E345AE5A1}"/>
              </a:ext>
            </a:extLst>
          </p:cNvPr>
          <p:cNvSpPr>
            <a:spLocks noGrp="1"/>
          </p:cNvSpPr>
          <p:nvPr/>
        </p:nvSpPr>
        <p:spPr>
          <a:xfrm>
            <a:off x="6829425" y="4219575"/>
            <a:ext cx="1390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92.5%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2312EB-B14B-4A88-B500-50035AAB1843}"/>
              </a:ext>
            </a:extLst>
          </p:cNvPr>
          <p:cNvSpPr>
            <a:spLocks noGrp="1"/>
          </p:cNvSpPr>
          <p:nvPr/>
        </p:nvSpPr>
        <p:spPr>
          <a:xfrm>
            <a:off x="6829425" y="4476750"/>
            <a:ext cx="1390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e^-2 效率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70C479-F3DF-4C5B-BCA3-665FF84C2C59}"/>
              </a:ext>
            </a:extLst>
          </p:cNvPr>
          <p:cNvSpPr>
            <a:spLocks noGrp="1"/>
          </p:cNvSpPr>
          <p:nvPr/>
        </p:nvSpPr>
        <p:spPr>
          <a:xfrm>
            <a:off x="6829425" y="4638675"/>
            <a:ext cx="13906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13.5% 轮廓内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ACD46D-4A68-4497-9434-9417484CB9A8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153F70-E965-4177-A04C-EA05144F13F2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177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DED5D51-D4B5-4C8C-82A1-098E0239BF30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小结与实验注意点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C3C881-826D-4327-A8BF-F1EFB455073A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方法上先建立物理初值，再用受控的迭代修正平顶区。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B69AA1-2B40-487F-BADD-54DB39E8C26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5B6328-6E94-4B04-AFF1-BF0D0F246501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6D826-0870-4100-AAF9-C674FF8D927C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659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不强压远背景：背景约束过强会牵制平台均匀性。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21E666-9DFB-4720-A846-55E483501EFD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A1C5C2-F6A6-46FA-BB21-0CA4FCC92897}"/>
              </a:ext>
            </a:extLst>
          </p:cNvPr>
          <p:cNvSpPr>
            <a:spLocks noGrp="1"/>
          </p:cNvSpPr>
          <p:nvPr/>
        </p:nvSpPr>
        <p:spPr>
          <a:xfrm>
            <a:off x="1047750" y="2952750"/>
            <a:ext cx="659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 flat-local WGS：本项目中不需要单独的 MRAF 预热阶段。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C4C964-6B8D-40BA-A790-F5D0E7B3B533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6675" cy="66675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F7B848-DB02-4A81-8EE9-57ECBDEFA143}"/>
              </a:ext>
            </a:extLst>
          </p:cNvPr>
          <p:cNvSpPr>
            <a:spLocks noGrp="1"/>
          </p:cNvSpPr>
          <p:nvPr/>
        </p:nvSpPr>
        <p:spPr>
          <a:xfrm>
            <a:off x="1047750" y="3571875"/>
            <a:ext cx="659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SLM 相位转换要做复振幅插值：先插值 exp(iφ)，再取相位。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03E86-1323-4D3B-BEC0-79AB6628D2AB}"/>
              </a:ext>
            </a:extLst>
          </p:cNvPr>
          <p:cNvSpPr>
            <a:spLocks noGrp="1"/>
          </p:cNvSpPr>
          <p:nvPr/>
        </p:nvSpPr>
        <p:spPr>
          <a:xfrm>
            <a:off x="876300" y="4276725"/>
            <a:ext cx="66675" cy="6667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3A2B34-F0FF-484D-A153-2FEE39133EE9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678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实验排查可从离焦、光束偏移和椭圆度入手；容差分析作为后续对光路误差的辅助判断。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4ED33E-F402-44CA-A573-6948C99152DB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64659C-EB44-41F0-9EC8-8A45290C7A7C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966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D0F2E77-9FBE-3C3E-03F7-7A9438DA9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2AF669B-B484-9D02-CDA2-753BFC01415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97F2AE-C136-3A78-0418-F5ACBEEA368F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光路有些许瑕疵，评价标准不匹配</a:t>
            </a:r>
            <a:endParaRPr sz="1050" b="0" dirty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6611E-2C25-9A9D-135F-7A689378D417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808F85-14E8-6113-9CA8-573F8F453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0" y="1894267"/>
            <a:ext cx="3199587" cy="22663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1F6DCBC-36C8-F6AF-E722-3173742F1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947" y="1838325"/>
            <a:ext cx="5150445" cy="41218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54DDA6-9BCB-FC28-B22A-3EAF48B83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90" y="4132066"/>
            <a:ext cx="3662357" cy="211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984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646</Words>
  <Application>Microsoft Office PowerPoint</Application>
  <DocSecurity>0</DocSecurity>
  <PresentationFormat>全屏显示(4:3)</PresentationFormat>
  <Paragraphs>144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Calibri</vt:lpstr>
      <vt:lpstr>Cambria Math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乡 万</cp:lastModifiedBy>
  <cp:revision>11</cp:revision>
  <dcterms:created xsi:type="dcterms:W3CDTF">2026-06-08T09:05:19Z</dcterms:created>
  <dcterms:modified xsi:type="dcterms:W3CDTF">2026-06-09T08:39:01Z</dcterms:modified>
</cp:coreProperties>
</file>