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矩形平顶 DOE 光束整形</a:t>
            </a:r>
          </a:p>
          <a:p>
            <a:pPr>
              <a:spcAft>
                <a:spcPts val="50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—— 从设计到容差评估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基于 Romero-Dickey 点对点法 + RTAD 目标 + WGS 优化</a:t>
            </a:r>
          </a:p>
          <a:p>
            <a:pPr>
              <a:spcAft>
                <a:spcPts val="5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2026 年 5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A568E"/>
                </a:solidFill>
                <a:latin typeface="Microsoft YaHei"/>
              </a:defRPr>
            </a:pPr>
            <a:r>
              <a:t>项目目标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设计一片衍射光学元件（DOE），将 532nm 高斯激光束整形成焦平面上的矩形平顶光斑。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77724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符号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值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激光波长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λ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532 nm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入射光斑 (1/e² 强度直径)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2w₀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5 mm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傅里叶透镜焦距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429 mm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通光孔径 (直径)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15 mm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目标光斑 (50% 全宽)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W₅₀ × H₅₀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330 × 120 μm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计算网格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N ×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2048 × 2048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焦面采样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dx_focal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2.5 μm/pixel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Romero-Dickey βₓ / βⵧ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9.06 / 3.30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43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核心流程：  Point2P 初始相位  →  WGS 迭代优化  →  真实光路容差评估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A568E"/>
                </a:solidFill>
                <a:latin typeface="Microsoft YaHei"/>
              </a:defRPr>
            </a:pPr>
            <a:r>
              <a:t>物理基础 ① — Romero-Dickey 点对点法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Romero &amp; Dickey, "Lossless laser beam shaping," J. Opt. Soc. Am. A, 13(4), 751–760 (1996)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• 菲涅尔近似下，用稳相法 (stationary phase) 解析求解高斯→平顶的 DOE 相位分布</a:t>
            </a:r>
          </a:p>
          <a:p>
            <a:pPr>
              <a:spcAft>
                <a:spcPts val="5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• 解的质量由无量纲参数 β 决定：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975360" cy="55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468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• β 越大 → 几何光学近似越精确，平顶边缘越陡峭（裙边宽度 ∝ 1/β⁰·⁹）</a:t>
            </a:r>
          </a:p>
          <a:p>
            <a:pPr>
              <a:spcAft>
                <a:spcPts val="5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• β &lt; 6/π ≈ 1.91 时无合理的平顶解（不确定性关系限制）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657600"/>
          <a:ext cx="80467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14400"/>
                <a:gridCol w="1645920"/>
                <a:gridCol w="338328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符号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值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输入 1/e 幅度半径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rᵢ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1.768 mm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= (5mm/2) / √2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x 方向输出尺度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Roₓ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186.2 μm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330 μm / √π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y 方向输出尺度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Roⵧ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67.7 μm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120 μm / √π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x 方向 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βₓ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9.06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正常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y 方向 β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βⵧ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3.30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限制方向 (βⵧ &lt; βₓ)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A568E"/>
                </a:solidFill>
                <a:latin typeface="Microsoft YaHei"/>
              </a:defRPr>
            </a:pPr>
            <a:r>
              <a:t>物理基础 ① — Romero-Dickey 相位公式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• 可分离假设: φ(x,y) = φₓ(x) + φⵧ(y)，x 和 y 方向独立求解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一维无纲量相位 (xi = x / rᵢ)：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2921000" cy="584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4688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其中 erf(ξ) 为误差函数:  erf(ξ) = (2/√π) ∫₀^ξ exp(-t²) dt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二维可分离相位：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383280"/>
            <a:ext cx="4287520" cy="55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3891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• 该相位为解析解，无需迭代，直接给出接近目标能量分布的初始相位 (phase0)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A568E"/>
                </a:solidFill>
                <a:latin typeface="Microsoft YaHei"/>
              </a:defRPr>
            </a:pPr>
            <a:r>
              <a:t>物理基础 ① — 离焦与偏移敏感度 (Romero-Dickey)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Romero &amp; Dickey 在论文中也推导了系统误差的敏感度分析，本项目在真实光路模拟中独立验证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E86A17"/>
                </a:solidFill>
                <a:latin typeface="Microsoft YaHei"/>
              </a:defRPr>
            </a:pPr>
            <a:r>
              <a:t>轴向离焦 (dz)：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离焦参数 g = dz · rᵢ² / (2 · Ro · 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g &gt; 0 (焦点后): 形成焦散线 (caustic)，强度出现超越峰</a:t>
            </a:r>
          </a:p>
          <a:p>
            <a:pPr>
              <a:spcAft>
                <a:spcPts val="5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g &lt; 0 (焦点前): 裙边宽度增加 Δa ≈ 3.88g − 3.53g²</a:t>
            </a:r>
          </a:p>
          <a:p>
            <a:pPr>
              <a:spcAft>
                <a:spcPts val="5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远离裙边区: 当 g ≪ 1 时影响可忽略</a:t>
            </a:r>
          </a:p>
          <a:p>
            <a:pPr>
              <a:spcAft>
                <a:spcPts val="5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裙边区内: 需要 β·g ≪ 1 才能保证影响可忽略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E86A17"/>
                </a:solidFill>
                <a:latin typeface="Microsoft YaHei"/>
              </a:defRPr>
            </a:pPr>
            <a:r>
              <a:t>横向偏移 (d)：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引入线性相位斜率，强度轮廓变为 |G(a)|² = 1 + 2·d·a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截断效应: 当入射光束被孔径截断时，裙边振荡幅度受限于 exp(-ξ₀²/2) · √(2β/π)</a:t>
            </a:r>
          </a:p>
          <a:p>
            <a:pPr>
              <a:spcAft>
                <a:spcPts val="5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此分析与本项目第二阶段的容差评估互补验证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A568E"/>
                </a:solidFill>
                <a:latin typeface="Microsoft YaHei"/>
              </a:defRPr>
            </a:pPr>
            <a:r>
              <a:t>物理基础 ② — RTAD 目标函数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Chen et al., "...high uniformity flat-top beams by RTAD," Optics &amp; Laser Technology, 186, 112776 (2025)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• 问题: 传统平顶目标使用陡峭几何边界 → FFT 迭代产生频谱泄露 (Gibbs 现象) → 散斑噪声</a:t>
            </a:r>
          </a:p>
          <a:p>
            <a:pPr>
              <a:spcAft>
                <a:spcPts val="5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• 方案: 在平顶区与背景之间引入升余弦 (raised-cosine) 下降边缘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E86A17"/>
                </a:solidFill>
                <a:latin typeface="Microsoft YaHei"/>
              </a:defRPr>
            </a:pPr>
            <a:r>
              <a:t>升余弦边缘函数 C(u)：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77440"/>
            <a:ext cx="4775200" cy="48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3832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二维可分离目标强度: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03320"/>
            <a:ext cx="3738880" cy="492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3891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a₀ = a₅₀ − Δx,  a₁ = a₅₀ + Δx    (默认 Δx=15μm, Δy=8μm)</a:t>
            </a:r>
          </a:p>
          <a:p>
            <a:pPr>
              <a:spcAft>
                <a:spcPts val="5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文献报告: 仿真均匀性 98.8%,  实验 91.0%,  显著优于传统几何目标法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A568E"/>
                </a:solidFill>
                <a:latin typeface="Microsoft YaHei"/>
              </a:defRPr>
            </a:pPr>
            <a:r>
              <a:t>物理基础 ② — 截断 RTAD 约束模式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D2D2D"/>
                </a:solidFill>
                <a:latin typeface="Microsoft YaHei"/>
              </a:defRPr>
            </a:pPr>
            <a:r>
              <a:t>传统 RTAD: 约束所有 I_full &gt; 0 的像素 → 包含极低强度尾迹 → 过度约束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本项目: 截断 RTAD (truncated RTAD) — 只约束强度足够高的区域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D2D2D"/>
                </a:solidFill>
                <a:latin typeface="Microsoft YaHei"/>
              </a:defRPr>
            </a:pPr>
            <a:r>
              <a:t>• release_level = exp(−2) ≈ 13.5%    (1/e² 强度水平)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E86A17"/>
                </a:solidFill>
                <a:latin typeface="Microsoft YaHei"/>
              </a:defRPr>
            </a:pPr>
            <a:r>
              <a:t>焦平面区域划分: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743200"/>
          <a:ext cx="80467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347472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区域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定义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投影方式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mask_flat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|x|≤a₀ ∩ |y|≤b₀   (纯平顶)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WGS 权重反馈, 跟踪均匀性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mask_signal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I_full ≥ 13.5%  OR  mask_flat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强制目标振幅约束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mask_free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保护窗口内非信号区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MRAF 自由区 (mraf_factor·E)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mask_bg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以上之外的全部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远背景 (bg_factor·E, bg→1.0=不约束)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663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优点: 低强度尾迹进入自由区，不被强制约束 → 保留物理旁瓣/光晕，避免过度平滑</a:t>
            </a:r>
          </a:p>
          <a:p>
            <a:pPr>
              <a:spcAft>
                <a:spcPts val="5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mask_flat 是纯平顶区 (无边缘过渡)，RMS 均匀性仅在此区域计算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A568E"/>
                </a:solidFill>
                <a:latin typeface="Microsoft YaHei"/>
              </a:defRPr>
            </a:pPr>
            <a:r>
              <a:t>物理基础 ③ — WGS 优化算法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Alsaka et al., Applied Physics B, 128, 137 (2022)  |  算法参考: slmsuite v0.4.1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E86A17"/>
                </a:solidFill>
                <a:latin typeface="Microsoft YaHei"/>
              </a:defRPr>
            </a:pPr>
            <a:r>
              <a:t>迭代框架 (GS → MRAF → WGS):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①  前向 FFT: DOE 面复振幅 → 焦面复振幅</a:t>
            </a:r>
          </a:p>
          <a:p>
            <a:pPr>
              <a:spcAft>
                <a:spcPts val="5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②  输出面振幅投影 (MRAF): 信号区→目标振幅, 自由区→保留, 背景→弱衰减</a:t>
            </a:r>
          </a:p>
          <a:p>
            <a:pPr>
              <a:spcAft>
                <a:spcPts val="5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③  逆向 FFT: 焦面 → DOE 面, 提取新相位</a:t>
            </a:r>
          </a:p>
          <a:p>
            <a:pPr>
              <a:spcAft>
                <a:spcPts val="5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④  WGS 权重更新: 根据当前焦面振幅在 mask_flat 内自适应调整目标权重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MRAF 输出面投影: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383280"/>
            <a:ext cx="4226560" cy="497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9319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WGS 权重反馈 (仅在 mask_flat 内更新):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89120"/>
            <a:ext cx="3921760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1206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• 权重仅更新 mask_flat; 边缘、自由区、背景保持权重 1.0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A568E"/>
                </a:solidFill>
                <a:latin typeface="Microsoft YaHei"/>
              </a:defRPr>
            </a:pPr>
            <a:r>
              <a:t>物理基础 ③ — 优化策略与基线结果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最终优化流程: phase0 (Point2P) → direct flat-local WGS (不经 MRAF 预热)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A568E"/>
                </a:solidFill>
                <a:latin typeface="Microsoft YaHei"/>
              </a:defRPr>
            </a:pPr>
            <a:r>
              <a:t>核心经验: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★ 不约束远背景 (bg_factor→1.0) 是最大的单项改进 — 平台均匀性和剖面显著改善</a:t>
            </a:r>
          </a:p>
          <a:p>
            <a:pPr>
              <a:spcAft>
                <a:spcPts val="5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★ 直接 WGS 优于 MRAF-only (均匀性 80%→95%) 和 MRAF→WGS 混合</a:t>
            </a:r>
          </a:p>
          <a:p>
            <a:pPr>
              <a:spcAft>
                <a:spcPts val="500"/>
              </a:spcAft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• ★ release_level 在 5~13.5% 范围内影响很小; 反馈指数 0.5 以上饱和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E86A17"/>
                </a:solidFill>
                <a:latin typeface="Microsoft YaHei"/>
              </a:defRPr>
            </a:pPr>
            <a:r>
              <a:t>最终工作基线参数: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474720"/>
          <a:ext cx="80467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值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wgs (不经过 MRAF)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flat_local (2D 局部反馈)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iterations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feedback_exponent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weight range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[0.5, 2.0]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mraf_factor (自由区)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bg_factor (远背景)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1.0 (实质不约束)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release_level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0.135 (exp(-2))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1264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E86A17"/>
                </a:solidFill>
                <a:latin typeface="Microsoft YaHei"/>
              </a:defRPr>
            </a:pPr>
            <a:r>
              <a:t>RMS 非均匀性 = 1.86%   |   e⁻² 衍射效率 = 92.5%   |   size50 = 330.2 × 123.6 μm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A568E"/>
                </a:solidFill>
                <a:latin typeface="Microsoft YaHei"/>
              </a:defRPr>
            </a:pPr>
            <a:r>
              <a:t>真实光路容差评估 — 固定 DOE 相位，模拟误差感度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目标: 评估已设计好的 DOE 在真实光路条件下的鲁棒性，指导实验反向纠错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8046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34747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误差类型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物理含义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离焦 (defocus)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defocus_mm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观察面偏离焦平面 ±2mm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光束偏移 (offset)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offset_x/y_mm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光斑偏离 DOE 中心 ±0.5mm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光束尺寸 (beam size)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diameter_1e2_mm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入射 1/e² 直径偏差 3.5~6.5mm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发散/会聚 (divergence)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divergence_edge_mrad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DOE 面波前曲率 ±0.5mrad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倾角 (pointing)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pointing_shift_x/y_um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整束倾斜 → 焦斑平移 ±100μm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通光孔径 (aperture)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clear_aperture_mm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有效通光区域 10~15mm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椭圆度 (ellipticity)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Dx / Dy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x/y 光斑尺寸不一致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43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每种误差独立扫描 (mild + stress)，双参数组合扫描用于定位耦合效应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A568E"/>
                </a:solidFill>
                <a:latin typeface="Microsoft YaHei"/>
              </a:defRPr>
            </a:pPr>
            <a:r>
              <a:t>5 种典型光斑误差 — 根因拟合结果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2286000"/>
                <a:gridCol w="310896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问题现象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根因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物理机制</a:t>
                      </a:r>
                    </a:p>
                  </a:txBody>
                  <a:tcPr>
                    <a:solidFill>
                      <a:srgbClr val="1A568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①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长边中间内凹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椭圆度 Dx &gt; Dy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x 方向过度照明 → 抢走长边中心处 y 向能量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长边能量缺失 + 短边倾斜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beam_offset (x+y 复合偏移)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光斑偏离中心造成不对称照明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③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四条边都向内凹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负离焦 + 光斑偏大 (≥5.5mm)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观察面在焦点前 + 扩束过大 → 四边对称内缩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能量上下聚集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beam_size (光束尺寸偏差)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入射光斑尺寸改变有效照明轮廓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长宽比不对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待进一步分析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Microsoft YaHei"/>
                        </a:defRPr>
                      </a:pPr>
                      <a:r>
                        <a:t>可能与椭圆度/发散角组合相关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43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容差量级参考 (RMS&lt;5%) — 发散角 ~±0.005mrad | 离焦 ~±0.75mm | 偏移 ~±0.2mm | 椭圆度 &lt;0.2mm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A568E"/>
                </a:solidFill>
                <a:latin typeface="Microsoft YaHei"/>
              </a:defRPr>
            </a:pPr>
            <a:r>
              <a:t>项目架构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84124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Point2P/</a:t>
            </a:r>
          </a:p>
          <a:p>
            <a:pPr>
              <a:spcAft>
                <a:spcPts val="5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├── initial_phase_generation/    [MATLAB]  Romero-Dickey 初始相位生成 (已冻结)</a:t>
            </a:r>
          </a:p>
          <a:p>
            <a:pPr>
              <a:spcAft>
                <a:spcPts val="5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│   └── generate_initial_phase.m    核心: 稳相法解析相位, 输出 phase0.mat</a:t>
            </a:r>
          </a:p>
          <a:p>
            <a:pPr>
              <a:spcAft>
                <a:spcPts val="5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│</a:t>
            </a:r>
          </a:p>
          <a:p>
            <a:pPr>
              <a:spcAft>
                <a:spcPts val="5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├── rtad_mraf_gs_python/         [Python]  MRAF/WGS 迭代优化</a:t>
            </a:r>
          </a:p>
          <a:p>
            <a:pPr>
              <a:spcAft>
                <a:spcPts val="5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│   ├── src/mraf_gs.py              核心: GS/MRAF/WGS 精化循环</a:t>
            </a:r>
          </a:p>
          <a:p>
            <a:pPr>
              <a:spcAft>
                <a:spcPts val="5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│   ├── src/rtad_target.py          RTAD 升余弦矩形目标构建</a:t>
            </a:r>
          </a:p>
          <a:p>
            <a:pPr>
              <a:spcAft>
                <a:spcPts val="5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│   ├── src/propagation.py          FFT 传播 + 高斯入射场生成</a:t>
            </a:r>
          </a:p>
          <a:p>
            <a:pPr>
              <a:spcAft>
                <a:spcPts val="5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│   └── run_rtad_mraf_gs_case.py    CLI 入口</a:t>
            </a:r>
          </a:p>
          <a:p>
            <a:pPr>
              <a:spcAft>
                <a:spcPts val="5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│</a:t>
            </a:r>
          </a:p>
          <a:p>
            <a:pPr>
              <a:spcAft>
                <a:spcPts val="5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├── real_world_simulation/       [Python]  真实光路容差评估</a:t>
            </a:r>
          </a:p>
          <a:p>
            <a:pPr>
              <a:spcAft>
                <a:spcPts val="5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│   ├── src/field_models.py         真实入射场建模 (偏移/发散/倾角等)</a:t>
            </a:r>
          </a:p>
          <a:p>
            <a:pPr>
              <a:spcAft>
                <a:spcPts val="5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│   ├── src/propagation.py          传播 + 角谱法离焦</a:t>
            </a:r>
          </a:p>
          <a:p>
            <a:pPr>
              <a:spcAft>
                <a:spcPts val="5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│   ├── src/metrics.py              诊断指标 (size50/13.5/90, RMS, e²)</a:t>
            </a:r>
          </a:p>
          <a:p>
            <a:pPr>
              <a:spcAft>
                <a:spcPts val="5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│   └── run_real_world_sweep.py     CLI 扫描入口</a:t>
            </a:r>
          </a:p>
          <a:p>
            <a:pPr>
              <a:spcAft>
                <a:spcPts val="5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│</a:t>
            </a:r>
          </a:p>
          <a:p>
            <a:pPr>
              <a:spcAft>
                <a:spcPts val="5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├── result_diagnostics/          [MATLAB]  焦平面诊断 (备用)</a:t>
            </a:r>
          </a:p>
          <a:p>
            <a:pPr>
              <a:spcAft>
                <a:spcPts val="5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├── target/                      [MATLAB]  RTAD 目标生成 (备用)</a:t>
            </a:r>
          </a:p>
          <a:p>
            <a:pPr>
              <a:spcAft>
                <a:spcPts val="500"/>
              </a:spcAft>
              <a:defRPr sz="1100" b="0">
                <a:solidFill>
                  <a:srgbClr val="2D2D2D"/>
                </a:solidFill>
                <a:latin typeface="Microsoft YaHei"/>
              </a:defRPr>
            </a:pPr>
            <a:r>
              <a:t>└── text/                        参考文献 (×4)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A568E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• Point2P 初始相位: Romero-Dickey 解析解提供接近目标能量分布的物理初值 (βₓ=9.06, βⵧ=3.30)</a:t>
            </a:r>
          </a:p>
          <a:p>
            <a:pPr>
              <a:spcAft>
                <a:spcPts val="5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• RTAD 目标函数: 升余弦下降边缘有效抑制 FFT 频谱泄露; 截断约束保留物理旁瓣结构</a:t>
            </a:r>
          </a:p>
          <a:p>
            <a:pPr>
              <a:spcAft>
                <a:spcPts val="5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• WGS 优化: 直接 flat-local WGS, 不约束远背景 (bg_factor→1.0) 是最大单项改进</a:t>
            </a:r>
          </a:p>
          <a:p>
            <a:pPr>
              <a:spcAft>
                <a:spcPts val="5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• 最终结果: RMS 非均匀性 = 1.86%,  e⁻² 衍射效率 = 92.5%</a:t>
            </a:r>
          </a:p>
          <a:p>
            <a:pPr>
              <a:spcAft>
                <a:spcPts val="500"/>
              </a:spcAft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• 容差分析: 揭示 5 类光斑误差的根因，可用于实验反向纠错 (光斑形态 → 误差参数)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E86A17"/>
                </a:solidFill>
                <a:latin typeface="Microsoft YaHei"/>
              </a:defRPr>
            </a:pPr>
            <a:r>
              <a:t>关键容差 — 发散角 ~±0.005 mrad (极敏感)  |  离焦 ~±0.75 mm  |  偏移 ~±0.2 mm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A568E"/>
                </a:solidFill>
                <a:latin typeface="Microsoft YaHei"/>
              </a:defRPr>
            </a:pPr>
            <a:r>
              <a:t>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[1]  Romero, L.A. &amp; Dickey, F.M.</a:t>
            </a: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     "Lossless laser beam shaping."  J. Opt. Soc. Am. A, 13(4), 751–760 (1996).</a:t>
            </a: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     → 初始相位理论基础: 稳相法解析求解高斯→平顶 DOE 相位</a:t>
            </a: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[2]  Chen, W. et al.</a:t>
            </a: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     "Generation of high uniformity flat-top beams by reconstructing</a:t>
            </a: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      the amplitude distribution at descending edges."</a:t>
            </a: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     Optics &amp; Laser Technology, 186, 112776 (2025).</a:t>
            </a: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     → RTAD 目标函数: 升余弦下降边缘替代陡峭几何边界</a:t>
            </a: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[3]  Alsaka, D.Y. et al.</a:t>
            </a: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     "Dynamic flat-topped laser beam shaping method using mixed region</a:t>
            </a: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      amplitude freedom algorithm."  Applied Physics B, 128, 137 (2022).</a:t>
            </a: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     → MRAF/WGS 算法: 混合区域振幅自由 + 自适应权重反馈</a:t>
            </a: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[4]  Zhang, C. et al.</a:t>
            </a: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     "Optimized holographic femtosecond laser patterning method towards</a:t>
            </a: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      rapid integration of high-quality functional devices in microchannels."</a:t>
            </a: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     Scientific Reports, 6, 33281 (2016).</a:t>
            </a: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     → MRAF 在飞秒激光微加工中的应用</a:t>
            </a: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[5]  slmsuite v0.4.1  —  github.com/slmsuite/slmsuite</a:t>
            </a:r>
          </a:p>
          <a:p>
            <a:pPr>
              <a:spcAft>
                <a:spcPts val="500"/>
              </a:spcAft>
              <a:defRPr sz="1200" b="0">
                <a:solidFill>
                  <a:srgbClr val="2D2D2D"/>
                </a:solidFill>
                <a:latin typeface="Microsoft YaHei"/>
              </a:defRPr>
            </a:pPr>
            <a:r>
              <a:t>     → 算法实现参考: FFT 传播、振幅归一化、MRAF/WGS 语义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